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93" d="100"/>
          <a:sy n="193" d="100"/>
        </p:scale>
        <p:origin x="834"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RoadLens is a privacy-conscious AI application that helps users find the moments that matter inside dashcam recordings. Instead of scrubbing through long videos, you upload a short clip and search in plain language. Everything runs locally, so sensitive footage never leaves the machine. I'll cover the problem, how it works, what the MVP delivers today and where it goes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returning to your parked car and discovering damage. The dashcam recorded everything, but the important moment is buried inside a long video. Reviewing that footage manually is slow and frustrating. RoadLens begins with a simple question: what if users could search video as easily as they search text?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intentionally simple. RoadLens samples frames from the uploaded video and uses an object-detection model to recognise people and vehicles. It stores those detections as searchable events. Users can then enter everyday phrases and jump directly to potentially relevant moments.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more than a concept page. The MVP provides an end-to-end workflow—from uploading a video to reviewing matching detections. It can run using native scripts, Docker or an installable package. Once its model is downloaded, the demonstration can also run offline.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immediate goal is to validate the core experience using approved sample videos. From there, the project can move from basic object search toward richer incident intelligence while maintaining clear privacy and responsible-AI boundaries.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RoadLens makes dashcam footage searchable, keeps processing local and is already usable end to end. Our ask is simple — trial it with approved footage, tell us where it saves the most time, and help us choose the next scenario to build.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RI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D4ED8"/>
          </a:solidFill>
          <a:ln/>
        </p:spPr>
      </p:sp>
      <p:sp>
        <p:nvSpPr>
          <p:cNvPr id="3" name="Text 1"/>
          <p:cNvSpPr>
            <a:spLocks noGrp="1"/>
          </p:cNvSpPr>
          <p:nvPr>
            <p:ph type="title" idx="101" hasCustomPrompt="1"/>
          </p:nvPr>
        </p:nvSpPr>
        <p:spPr>
          <a:xfrm>
            <a:off x="548640" y="384048"/>
            <a:ext cx="8046720" cy="82296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5111427"/>
      </p:ext>
    </p:ext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8046720" cy="822960"/>
          </a:xfrm>
          <a:prstGeom prst="rect">
            <a:avLst/>
          </a:prstGeom>
          <a:noFill/>
          <a:ln/>
        </p:spPr>
        <p:txBody>
          <a:bodyPr wrap="square" lIns="0" tIns="0" rIns="0" bIns="0" rtlCol="0" anchor="t"/>
          <a:lstStyle/>
          <a:p>
            <a:pPr marL="0" indent="0" algn="l">
              <a:buNone/>
            </a:pPr>
            <a:r>
              <a:rPr lang="en-US" sz="3200" b="1" dirty="0">
                <a:solidFill>
                  <a:srgbClr val="1F2937"/>
                </a:solidFill>
                <a:latin typeface="Segoe UI" pitchFamily="34" charset="0"/>
                <a:ea typeface="Segoe UI" pitchFamily="34" charset="-122"/>
                <a:cs typeface="Segoe UI" pitchFamily="34" charset="-120"/>
              </a:rPr>
              <a:t>RoadLens — Intelligent Car Dashcam</a:t>
            </a:r>
            <a:endParaRPr lang="en-US" sz="3200" dirty="0"/>
          </a:p>
        </p:txBody>
      </p:sp>
      <p:sp>
        <p:nvSpPr>
          <p:cNvPr id="3" name="Text 1"/>
          <p:cNvSpPr/>
          <p:nvPr/>
        </p:nvSpPr>
        <p:spPr>
          <a:xfrm>
            <a:off x="548640" y="1371600"/>
            <a:ext cx="8046720" cy="365760"/>
          </a:xfrm>
          <a:prstGeom prst="rect">
            <a:avLst/>
          </a:prstGeom>
          <a:noFill/>
          <a:ln/>
        </p:spPr>
        <p:txBody>
          <a:bodyPr wrap="square" lIns="0" tIns="0" rIns="0" bIns="0" rtlCol="0" anchor="ctr"/>
          <a:lstStyle/>
          <a:p>
            <a:pPr marL="0" indent="0">
              <a:buNone/>
            </a:pPr>
            <a:r>
              <a:rPr lang="en-US" sz="1600" dirty="0">
                <a:solidFill>
                  <a:srgbClr val="1D4ED8"/>
                </a:solidFill>
                <a:latin typeface="Segoe UI" pitchFamily="34" charset="0"/>
                <a:ea typeface="Segoe UI" pitchFamily="34" charset="-122"/>
                <a:cs typeface="Segoe UI" pitchFamily="34" charset="-120"/>
              </a:rPr>
              <a:t>A privacy-conscious AI application that finds the moments that matter in dashcam footage.</a:t>
            </a:r>
            <a:endParaRPr lang="en-US" sz="1600" dirty="0"/>
          </a:p>
        </p:txBody>
      </p:sp>
      <p:sp>
        <p:nvSpPr>
          <p:cNvPr id="4" name="key value panel">
            <a:extLst>
              <a:ext uri="{C183D7F6-B498-43B3-948B-1728B52AA6E4}">
                <adec:decorative xmlns:adec="http://schemas.microsoft.com/office/drawing/2017/decorative" val="1"/>
              </a:ext>
            </a:extLst>
          </p:cNvPr>
          <p:cNvSpPr/>
          <p:nvPr/>
        </p:nvSpPr>
        <p:spPr>
          <a:xfrm>
            <a:off x="548640" y="1965960"/>
            <a:ext cx="4709160" cy="2011680"/>
          </a:xfrm>
          <a:prstGeom prst="rect">
            <a:avLst/>
          </a:prstGeom>
          <a:solidFill>
            <a:srgbClr val="F3F4F6"/>
          </a:solidFill>
          <a:ln/>
        </p:spPr>
        <p:txBody>
          <a:bodyPr/>
          <a:lstStyle/>
          <a:p>
            <a:endParaRPr lang="en-US"/>
          </a:p>
        </p:txBody>
      </p:sp>
      <p:sp>
        <p:nvSpPr>
          <p:cNvPr id="5" name="Text 3"/>
          <p:cNvSpPr/>
          <p:nvPr/>
        </p:nvSpPr>
        <p:spPr>
          <a:xfrm>
            <a:off x="777240" y="2121408"/>
            <a:ext cx="2743200" cy="274320"/>
          </a:xfrm>
          <a:prstGeom prst="rect">
            <a:avLst/>
          </a:prstGeom>
          <a:noFill/>
          <a:ln/>
        </p:spPr>
        <p:txBody>
          <a:bodyPr wrap="square" lIns="0" tIns="0" rIns="0" bIns="0" rtlCol="0" anchor="ctr"/>
          <a:lstStyle/>
          <a:p>
            <a:pPr marL="0" indent="0">
              <a:buNone/>
            </a:pPr>
            <a:r>
              <a:rPr lang="en-US" sz="1200" b="1" kern="0" spc="300" dirty="0">
                <a:solidFill>
                  <a:srgbClr val="1D4ED8"/>
                </a:solidFill>
                <a:latin typeface="Segoe UI" pitchFamily="34" charset="0"/>
                <a:ea typeface="Segoe UI" pitchFamily="34" charset="-122"/>
                <a:cs typeface="Segoe UI" pitchFamily="34" charset="-120"/>
              </a:rPr>
              <a:t>KEY VALUE</a:t>
            </a:r>
            <a:endParaRPr lang="en-US" sz="1200" dirty="0"/>
          </a:p>
        </p:txBody>
      </p:sp>
      <p:sp>
        <p:nvSpPr>
          <p:cNvPr id="6" name="Text 4">
            <a:extLst>
              <a:ext uri="{C183D7F6-B498-43B3-948B-1728B52AA6E4}">
                <adec:decorative xmlns:adec="http://schemas.microsoft.com/office/drawing/2017/decorative" val="0"/>
              </a:ext>
            </a:extLst>
          </p:cNvPr>
          <p:cNvSpPr/>
          <p:nvPr/>
        </p:nvSpPr>
        <p:spPr>
          <a:xfrm>
            <a:off x="777240" y="2468880"/>
            <a:ext cx="4251960" cy="1417320"/>
          </a:xfrm>
          <a:prstGeom prst="rect">
            <a:avLst/>
          </a:prstGeom>
          <a:noFill/>
          <a:ln/>
        </p:spPr>
        <p:txBody>
          <a:bodyPr wrap="square" lIns="0" tIns="0" rIns="0" bIns="0" rtlCol="0"/>
          <a:lstStyle/>
          <a:p>
            <a:pPr marL="342900" indent="-342900">
              <a:spcAft>
                <a:spcPts val="300"/>
              </a:spcAft>
              <a:buSzPct val="100000"/>
              <a:buChar char="•"/>
            </a:pPr>
            <a:r>
              <a:rPr lang="en-US" sz="1200" dirty="0">
                <a:solidFill>
                  <a:srgbClr val="1F2937"/>
                </a:solidFill>
                <a:latin typeface="Segoe UI" pitchFamily="34" charset="0"/>
                <a:ea typeface="Segoe UI" pitchFamily="34" charset="-122"/>
                <a:cs typeface="Segoe UI" pitchFamily="34" charset="-120"/>
              </a:rPr>
              <a:t>Reduces time spent reviewing dashcam footage</a:t>
            </a:r>
            <a:endParaRPr lang="en-US" sz="1200" dirty="0"/>
          </a:p>
          <a:p>
            <a:pPr marL="342900" indent="-342900">
              <a:spcAft>
                <a:spcPts val="300"/>
              </a:spcAft>
              <a:buSzPct val="100000"/>
              <a:buChar char="•"/>
            </a:pPr>
            <a:r>
              <a:rPr lang="en-US" sz="1200" dirty="0">
                <a:solidFill>
                  <a:srgbClr val="1F2937"/>
                </a:solidFill>
                <a:latin typeface="Segoe UI" pitchFamily="34" charset="0"/>
                <a:ea typeface="Segoe UI" pitchFamily="34" charset="-122"/>
                <a:cs typeface="Segoe UI" pitchFamily="34" charset="-120"/>
              </a:rPr>
              <a:t>Converts video into searchable events</a:t>
            </a:r>
            <a:endParaRPr lang="en-US" sz="1200" dirty="0"/>
          </a:p>
          <a:p>
            <a:pPr marL="342900" indent="-342900">
              <a:spcAft>
                <a:spcPts val="300"/>
              </a:spcAft>
              <a:buSzPct val="100000"/>
              <a:buChar char="•"/>
            </a:pPr>
            <a:r>
              <a:rPr lang="en-US" sz="1200" dirty="0">
                <a:solidFill>
                  <a:srgbClr val="1F2937"/>
                </a:solidFill>
                <a:latin typeface="Segoe UI" pitchFamily="34" charset="0"/>
                <a:ea typeface="Segoe UI" pitchFamily="34" charset="-122"/>
                <a:cs typeface="Segoe UI" pitchFamily="34" charset="-120"/>
              </a:rPr>
              <a:t>Runs locally to protect sensitive footage</a:t>
            </a:r>
            <a:endParaRPr lang="en-US" sz="1200" dirty="0"/>
          </a:p>
          <a:p>
            <a:pPr marL="342900" indent="-342900">
              <a:spcAft>
                <a:spcPts val="300"/>
              </a:spcAft>
              <a:buSzPct val="100000"/>
              <a:buChar char="•"/>
            </a:pPr>
            <a:r>
              <a:rPr lang="en-US" sz="1200" dirty="0">
                <a:solidFill>
                  <a:srgbClr val="1F2937"/>
                </a:solidFill>
                <a:latin typeface="Segoe UI" pitchFamily="34" charset="0"/>
                <a:ea typeface="Segoe UI" pitchFamily="34" charset="-122"/>
                <a:cs typeface="Segoe UI" pitchFamily="34" charset="-120"/>
              </a:rPr>
              <a:t>Supports offline demonstrations after setup</a:t>
            </a:r>
            <a:endParaRPr lang="en-US" sz="1200" dirty="0"/>
          </a:p>
          <a:p>
            <a:pPr marL="342900" indent="-342900">
              <a:spcAft>
                <a:spcPts val="300"/>
              </a:spcAft>
              <a:buSzPct val="100000"/>
              <a:buChar char="•"/>
            </a:pPr>
            <a:r>
              <a:rPr lang="en-US" sz="1200" dirty="0">
                <a:solidFill>
                  <a:srgbClr val="1F2937"/>
                </a:solidFill>
                <a:latin typeface="Segoe UI" pitchFamily="34" charset="0"/>
                <a:ea typeface="Segoe UI" pitchFamily="34" charset="-122"/>
                <a:cs typeface="Segoe UI" pitchFamily="34" charset="-120"/>
              </a:rPr>
              <a:t>Foundation for future incident search</a:t>
            </a:r>
            <a:endParaRPr lang="en-US" sz="1200" dirty="0"/>
          </a:p>
        </p:txBody>
      </p:sp>
      <p:sp>
        <p:nvSpPr>
          <p:cNvPr id="7" name="how it works panel">
            <a:extLst>
              <a:ext uri="{C183D7F6-B498-43B3-948B-1728B52AA6E4}">
                <adec:decorative xmlns:adec="http://schemas.microsoft.com/office/drawing/2017/decorative" val="1"/>
              </a:ext>
            </a:extLst>
          </p:cNvPr>
          <p:cNvSpPr/>
          <p:nvPr/>
        </p:nvSpPr>
        <p:spPr>
          <a:xfrm>
            <a:off x="5486400" y="1965960"/>
            <a:ext cx="3108960" cy="2011680"/>
          </a:xfrm>
          <a:prstGeom prst="rect">
            <a:avLst/>
          </a:prstGeom>
          <a:solidFill>
            <a:srgbClr val="FFFFFF"/>
          </a:solidFill>
          <a:ln w="12700">
            <a:solidFill>
              <a:srgbClr val="E5E7EB"/>
            </a:solidFill>
            <a:prstDash val="solid"/>
          </a:ln>
        </p:spPr>
        <p:txBody>
          <a:bodyPr/>
          <a:lstStyle/>
          <a:p>
            <a:endParaRPr lang="en-US"/>
          </a:p>
        </p:txBody>
      </p:sp>
      <p:sp>
        <p:nvSpPr>
          <p:cNvPr id="8" name="panel accent">
            <a:extLst>
              <a:ext uri="{C183D7F6-B498-43B3-948B-1728B52AA6E4}">
                <adec:decorative xmlns:adec="http://schemas.microsoft.com/office/drawing/2017/decorative" val="1"/>
              </a:ext>
            </a:extLst>
          </p:cNvPr>
          <p:cNvSpPr/>
          <p:nvPr/>
        </p:nvSpPr>
        <p:spPr>
          <a:xfrm>
            <a:off x="5486400" y="1965960"/>
            <a:ext cx="3108960" cy="45720"/>
          </a:xfrm>
          <a:prstGeom prst="rect">
            <a:avLst/>
          </a:prstGeom>
          <a:solidFill>
            <a:srgbClr val="1D4ED8"/>
          </a:solidFill>
          <a:ln/>
        </p:spPr>
        <p:txBody>
          <a:bodyPr/>
          <a:lstStyle/>
          <a:p>
            <a:endParaRPr lang="en-US"/>
          </a:p>
        </p:txBody>
      </p:sp>
      <p:sp>
        <p:nvSpPr>
          <p:cNvPr id="9" name="Text 7">
            <a:extLst>
              <a:ext uri="{C183D7F6-B498-43B3-948B-1728B52AA6E4}">
                <adec:decorative xmlns:adec="http://schemas.microsoft.com/office/drawing/2017/decorative" val="0"/>
              </a:ext>
            </a:extLst>
          </p:cNvPr>
          <p:cNvSpPr/>
          <p:nvPr/>
        </p:nvSpPr>
        <p:spPr>
          <a:xfrm>
            <a:off x="5687568" y="2148840"/>
            <a:ext cx="2743200" cy="274320"/>
          </a:xfrm>
          <a:prstGeom prst="rect">
            <a:avLst/>
          </a:prstGeom>
          <a:noFill/>
          <a:ln/>
        </p:spPr>
        <p:txBody>
          <a:bodyPr wrap="square" lIns="0" tIns="0" rIns="0" bIns="0" rtlCol="0" anchor="ctr"/>
          <a:lstStyle/>
          <a:p>
            <a:pPr marL="0" indent="0">
              <a:buNone/>
            </a:pPr>
            <a:r>
              <a:rPr lang="en-US" sz="1200" b="1" kern="0" spc="300" dirty="0">
                <a:solidFill>
                  <a:srgbClr val="1F2937"/>
                </a:solidFill>
                <a:latin typeface="Segoe UI" pitchFamily="34" charset="0"/>
                <a:ea typeface="Segoe UI" pitchFamily="34" charset="-122"/>
                <a:cs typeface="Segoe UI" pitchFamily="34" charset="-120"/>
              </a:rPr>
              <a:t>HOW IT WORKS</a:t>
            </a:r>
            <a:endParaRPr lang="en-US" sz="1200" dirty="0"/>
          </a:p>
        </p:txBody>
      </p:sp>
      <p:sp>
        <p:nvSpPr>
          <p:cNvPr id="10" name="Text 8">
            <a:extLst>
              <a:ext uri="{C183D7F6-B498-43B3-948B-1728B52AA6E4}">
                <adec:decorative xmlns:adec="http://schemas.microsoft.com/office/drawing/2017/decorative" val="0"/>
              </a:ext>
            </a:extLst>
          </p:cNvPr>
          <p:cNvSpPr/>
          <p:nvPr/>
        </p:nvSpPr>
        <p:spPr>
          <a:xfrm>
            <a:off x="5687568" y="2496312"/>
            <a:ext cx="2743200" cy="1371600"/>
          </a:xfrm>
          <a:prstGeom prst="rect">
            <a:avLst/>
          </a:prstGeom>
          <a:noFill/>
          <a:ln/>
        </p:spPr>
        <p:txBody>
          <a:bodyPr wrap="square" lIns="0" tIns="0" rIns="0" bIns="0" rtlCol="0"/>
          <a:lstStyle/>
          <a:p>
            <a:pPr marL="0" indent="0">
              <a:buNone/>
            </a:pPr>
            <a:r>
              <a:rPr lang="en-US" sz="1200" dirty="0">
                <a:solidFill>
                  <a:srgbClr val="374151"/>
                </a:solidFill>
                <a:latin typeface="Segoe UI" pitchFamily="34" charset="0"/>
                <a:ea typeface="Segoe UI" pitchFamily="34" charset="-122"/>
                <a:cs typeface="Segoe UI" pitchFamily="34" charset="-120"/>
              </a:rPr>
              <a:t>Upload a short MP4, then search in plain language. YOLO detection returns thumbnails with timestamps and confidence scores — all on your own machine.</a:t>
            </a:r>
            <a:endParaRPr lang="en-US" sz="1200" dirty="0"/>
          </a:p>
        </p:txBody>
      </p:sp>
      <p:sp>
        <p:nvSpPr>
          <p:cNvPr id="11" name="team band">
            <a:extLst>
              <a:ext uri="{C183D7F6-B498-43B3-948B-1728B52AA6E4}">
                <adec:decorative xmlns:adec="http://schemas.microsoft.com/office/drawing/2017/decorative" val="1"/>
              </a:ext>
            </a:extLst>
          </p:cNvPr>
          <p:cNvSpPr/>
          <p:nvPr/>
        </p:nvSpPr>
        <p:spPr>
          <a:xfrm>
            <a:off x="548640" y="4224528"/>
            <a:ext cx="8046720" cy="566928"/>
          </a:xfrm>
          <a:prstGeom prst="rect">
            <a:avLst/>
          </a:prstGeom>
          <a:solidFill>
            <a:srgbClr val="1F2937"/>
          </a:solidFill>
          <a:ln/>
        </p:spPr>
        <p:txBody>
          <a:bodyPr/>
          <a:lstStyle/>
          <a:p>
            <a:endParaRPr lang="en-US"/>
          </a:p>
        </p:txBody>
      </p:sp>
      <p:sp>
        <p:nvSpPr>
          <p:cNvPr id="12" name="Text 10">
            <a:extLst>
              <a:ext uri="{C183D7F6-B498-43B3-948B-1728B52AA6E4}">
                <adec:decorative xmlns:adec="http://schemas.microsoft.com/office/drawing/2017/decorative" val="0"/>
              </a:ext>
            </a:extLst>
          </p:cNvPr>
          <p:cNvSpPr/>
          <p:nvPr/>
        </p:nvSpPr>
        <p:spPr>
          <a:xfrm>
            <a:off x="777240" y="4315968"/>
            <a:ext cx="7589520" cy="384048"/>
          </a:xfrm>
          <a:prstGeom prst="rect">
            <a:avLst/>
          </a:prstGeom>
          <a:noFill/>
          <a:ln/>
        </p:spPr>
        <p:txBody>
          <a:bodyPr wrap="square" lIns="0" tIns="0" rIns="0" bIns="0"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Project team:  Sriram Iyer  •  Naveed Khan  •  Sai Krishna Bellala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8046720" cy="822960"/>
          </a:xfrm>
          <a:prstGeom prst="rect">
            <a:avLst/>
          </a:prstGeom>
          <a:noFill/>
          <a:ln/>
        </p:spPr>
        <p:txBody>
          <a:bodyPr wrap="square" lIns="0" tIns="0" rIns="0" bIns="0" rtlCol="0" anchor="t"/>
          <a:lstStyle/>
          <a:p>
            <a:pPr marL="0" indent="0" algn="l">
              <a:buNone/>
            </a:pPr>
            <a:r>
              <a:rPr lang="en-US" sz="3000" b="1" dirty="0">
                <a:solidFill>
                  <a:srgbClr val="1F2937"/>
                </a:solidFill>
                <a:latin typeface="Segoe UI" pitchFamily="34" charset="0"/>
                <a:ea typeface="Segoe UI" pitchFamily="34" charset="-122"/>
                <a:cs typeface="Segoe UI" pitchFamily="34" charset="-120"/>
              </a:rPr>
              <a:t>Hours of footage hide the moment that matters</a:t>
            </a:r>
            <a:endParaRPr lang="en-US" sz="3000" dirty="0"/>
          </a:p>
        </p:txBody>
      </p:sp>
      <p:sp>
        <p:nvSpPr>
          <p:cNvPr id="3" name="Text 1">
            <a:extLst>
              <a:ext uri="{C183D7F6-B498-43B3-948B-1728B52AA6E4}">
                <adec:decorative xmlns:adec="http://schemas.microsoft.com/office/drawing/2017/decorative" val="0"/>
              </a:ext>
            </a:extLst>
          </p:cNvPr>
          <p:cNvSpPr/>
          <p:nvPr/>
        </p:nvSpPr>
        <p:spPr>
          <a:xfrm>
            <a:off x="548640" y="1325880"/>
            <a:ext cx="8046720" cy="365760"/>
          </a:xfrm>
          <a:prstGeom prst="rect">
            <a:avLst/>
          </a:prstGeom>
          <a:noFill/>
          <a:ln/>
        </p:spPr>
        <p:txBody>
          <a:bodyPr wrap="square" lIns="0" tIns="0" rIns="0" bIns="0" rtlCol="0" anchor="ctr"/>
          <a:lstStyle/>
          <a:p>
            <a:pPr marL="0" indent="0">
              <a:buNone/>
            </a:pPr>
            <a:r>
              <a:rPr lang="en-US" sz="1600" dirty="0">
                <a:solidFill>
                  <a:srgbClr val="1D4ED8"/>
                </a:solidFill>
                <a:latin typeface="Segoe UI" pitchFamily="34" charset="0"/>
                <a:ea typeface="Segoe UI" pitchFamily="34" charset="-122"/>
                <a:cs typeface="Segoe UI" pitchFamily="34" charset="-120"/>
              </a:rPr>
              <a:t>RoadLens transforms dashcam video into searchable, timestamped events.</a:t>
            </a:r>
            <a:endParaRPr lang="en-US" sz="1600" dirty="0"/>
          </a:p>
        </p:txBody>
      </p:sp>
      <p:sp>
        <p:nvSpPr>
          <p:cNvPr id="4" name="quote rule">
            <a:extLst>
              <a:ext uri="{C183D7F6-B498-43B3-948B-1728B52AA6E4}">
                <adec:decorative xmlns:adec="http://schemas.microsoft.com/office/drawing/2017/decorative" val="1"/>
              </a:ext>
            </a:extLst>
          </p:cNvPr>
          <p:cNvSpPr/>
          <p:nvPr/>
        </p:nvSpPr>
        <p:spPr>
          <a:xfrm>
            <a:off x="548640" y="1965960"/>
            <a:ext cx="45720" cy="777240"/>
          </a:xfrm>
          <a:prstGeom prst="rect">
            <a:avLst/>
          </a:prstGeom>
          <a:solidFill>
            <a:srgbClr val="1D4ED8"/>
          </a:solidFill>
          <a:ln/>
        </p:spPr>
        <p:txBody>
          <a:bodyPr/>
          <a:lstStyle/>
          <a:p>
            <a:endParaRPr lang="en-US"/>
          </a:p>
        </p:txBody>
      </p:sp>
      <p:sp>
        <p:nvSpPr>
          <p:cNvPr id="5" name="Text 3"/>
          <p:cNvSpPr/>
          <p:nvPr/>
        </p:nvSpPr>
        <p:spPr>
          <a:xfrm>
            <a:off x="777240" y="1965960"/>
            <a:ext cx="7772400" cy="777240"/>
          </a:xfrm>
          <a:prstGeom prst="rect">
            <a:avLst/>
          </a:prstGeom>
          <a:noFill/>
          <a:ln/>
        </p:spPr>
        <p:txBody>
          <a:bodyPr wrap="square" lIns="0" tIns="0" rIns="0" bIns="0" rtlCol="0" anchor="ctr"/>
          <a:lstStyle/>
          <a:p>
            <a:pPr marL="0" indent="0">
              <a:buNone/>
            </a:pPr>
            <a:r>
              <a:rPr lang="en-US" sz="1800" i="1" dirty="0">
                <a:solidFill>
                  <a:srgbClr val="1F2937"/>
                </a:solidFill>
                <a:latin typeface="Segoe UI" pitchFamily="34" charset="0"/>
                <a:ea typeface="Segoe UI" pitchFamily="34" charset="-122"/>
                <a:cs typeface="Segoe UI" pitchFamily="34" charset="-120"/>
              </a:rPr>
              <a:t>After an incident, drivers may need to review every minute manually — just to find a few important seconds.</a:t>
            </a:r>
            <a:endParaRPr lang="en-US" sz="1800" dirty="0"/>
          </a:p>
        </p:txBody>
      </p:sp>
      <p:sp>
        <p:nvSpPr>
          <p:cNvPr id="6" name="timeline track">
            <a:extLst>
              <a:ext uri="{C183D7F6-B498-43B3-948B-1728B52AA6E4}">
                <adec:decorative xmlns:adec="http://schemas.microsoft.com/office/drawing/2017/decorative" val="1"/>
              </a:ext>
            </a:extLst>
          </p:cNvPr>
          <p:cNvSpPr/>
          <p:nvPr/>
        </p:nvSpPr>
        <p:spPr>
          <a:xfrm>
            <a:off x="548640" y="3291840"/>
            <a:ext cx="8046720" cy="502920"/>
          </a:xfrm>
          <a:prstGeom prst="rect">
            <a:avLst/>
          </a:prstGeom>
          <a:solidFill>
            <a:srgbClr val="F3F4F6"/>
          </a:solidFill>
          <a:ln/>
        </p:spPr>
        <p:txBody>
          <a:bodyPr anchor="t"/>
          <a:lstStyle/>
          <a:p>
            <a:endParaRPr lang="en-US"/>
          </a:p>
        </p:txBody>
      </p:sp>
      <p:sp>
        <p:nvSpPr>
          <p:cNvPr id="7" name="tick">
            <a:extLst>
              <a:ext uri="{C183D7F6-B498-43B3-948B-1728B52AA6E4}">
                <adec:decorative xmlns:adec="http://schemas.microsoft.com/office/drawing/2017/decorative" val="1"/>
              </a:ext>
            </a:extLst>
          </p:cNvPr>
          <p:cNvSpPr/>
          <p:nvPr/>
        </p:nvSpPr>
        <p:spPr>
          <a:xfrm>
            <a:off x="914400" y="3291840"/>
            <a:ext cx="0" cy="502920"/>
          </a:xfrm>
          <a:prstGeom prst="line">
            <a:avLst/>
          </a:prstGeom>
          <a:noFill/>
          <a:ln w="12700">
            <a:solidFill>
              <a:srgbClr val="D1D5DB"/>
            </a:solidFill>
            <a:prstDash val="solid"/>
          </a:ln>
        </p:spPr>
        <p:txBody>
          <a:bodyPr/>
          <a:lstStyle/>
          <a:p>
            <a:endParaRPr lang="en-US"/>
          </a:p>
        </p:txBody>
      </p:sp>
      <p:sp>
        <p:nvSpPr>
          <p:cNvPr id="8" name="tick">
            <a:extLst>
              <a:ext uri="{C183D7F6-B498-43B3-948B-1728B52AA6E4}">
                <adec:decorative xmlns:adec="http://schemas.microsoft.com/office/drawing/2017/decorative" val="1"/>
              </a:ext>
            </a:extLst>
          </p:cNvPr>
          <p:cNvSpPr/>
          <p:nvPr/>
        </p:nvSpPr>
        <p:spPr>
          <a:xfrm>
            <a:off x="1280160" y="3291840"/>
            <a:ext cx="0" cy="502920"/>
          </a:xfrm>
          <a:prstGeom prst="line">
            <a:avLst/>
          </a:prstGeom>
          <a:noFill/>
          <a:ln w="12700">
            <a:solidFill>
              <a:srgbClr val="D1D5DB"/>
            </a:solidFill>
            <a:prstDash val="solid"/>
          </a:ln>
        </p:spPr>
        <p:txBody>
          <a:bodyPr/>
          <a:lstStyle/>
          <a:p>
            <a:endParaRPr lang="en-US"/>
          </a:p>
        </p:txBody>
      </p:sp>
      <p:sp>
        <p:nvSpPr>
          <p:cNvPr id="9" name="tick">
            <a:extLst>
              <a:ext uri="{C183D7F6-B498-43B3-948B-1728B52AA6E4}">
                <adec:decorative xmlns:adec="http://schemas.microsoft.com/office/drawing/2017/decorative" val="1"/>
              </a:ext>
            </a:extLst>
          </p:cNvPr>
          <p:cNvSpPr/>
          <p:nvPr/>
        </p:nvSpPr>
        <p:spPr>
          <a:xfrm>
            <a:off x="1645920" y="3291840"/>
            <a:ext cx="0" cy="502920"/>
          </a:xfrm>
          <a:prstGeom prst="line">
            <a:avLst/>
          </a:prstGeom>
          <a:noFill/>
          <a:ln w="12700">
            <a:solidFill>
              <a:srgbClr val="D1D5DB"/>
            </a:solidFill>
            <a:prstDash val="solid"/>
          </a:ln>
        </p:spPr>
        <p:txBody>
          <a:bodyPr/>
          <a:lstStyle/>
          <a:p>
            <a:endParaRPr lang="en-US"/>
          </a:p>
        </p:txBody>
      </p:sp>
      <p:sp>
        <p:nvSpPr>
          <p:cNvPr id="10" name="tick">
            <a:extLst>
              <a:ext uri="{C183D7F6-B498-43B3-948B-1728B52AA6E4}">
                <adec:decorative xmlns:adec="http://schemas.microsoft.com/office/drawing/2017/decorative" val="1"/>
              </a:ext>
            </a:extLst>
          </p:cNvPr>
          <p:cNvSpPr/>
          <p:nvPr/>
        </p:nvSpPr>
        <p:spPr>
          <a:xfrm>
            <a:off x="2011680" y="3291840"/>
            <a:ext cx="0" cy="502920"/>
          </a:xfrm>
          <a:prstGeom prst="line">
            <a:avLst/>
          </a:prstGeom>
          <a:noFill/>
          <a:ln w="12700">
            <a:solidFill>
              <a:srgbClr val="D1D5DB"/>
            </a:solidFill>
            <a:prstDash val="solid"/>
          </a:ln>
        </p:spPr>
        <p:txBody>
          <a:bodyPr/>
          <a:lstStyle/>
          <a:p>
            <a:endParaRPr lang="en-US"/>
          </a:p>
        </p:txBody>
      </p:sp>
      <p:sp>
        <p:nvSpPr>
          <p:cNvPr id="11" name="tick">
            <a:extLst>
              <a:ext uri="{C183D7F6-B498-43B3-948B-1728B52AA6E4}">
                <adec:decorative xmlns:adec="http://schemas.microsoft.com/office/drawing/2017/decorative" val="1"/>
              </a:ext>
            </a:extLst>
          </p:cNvPr>
          <p:cNvSpPr/>
          <p:nvPr/>
        </p:nvSpPr>
        <p:spPr>
          <a:xfrm>
            <a:off x="2377440" y="3291840"/>
            <a:ext cx="0" cy="502920"/>
          </a:xfrm>
          <a:prstGeom prst="line">
            <a:avLst/>
          </a:prstGeom>
          <a:noFill/>
          <a:ln w="12700">
            <a:solidFill>
              <a:srgbClr val="D1D5DB"/>
            </a:solidFill>
            <a:prstDash val="solid"/>
          </a:ln>
        </p:spPr>
        <p:txBody>
          <a:bodyPr anchor="t"/>
          <a:lstStyle/>
          <a:p>
            <a:endParaRPr lang="en-US"/>
          </a:p>
        </p:txBody>
      </p:sp>
      <p:sp>
        <p:nvSpPr>
          <p:cNvPr id="12" name="tick">
            <a:extLst>
              <a:ext uri="{C183D7F6-B498-43B3-948B-1728B52AA6E4}">
                <adec:decorative xmlns:adec="http://schemas.microsoft.com/office/drawing/2017/decorative" val="1"/>
              </a:ext>
            </a:extLst>
          </p:cNvPr>
          <p:cNvSpPr/>
          <p:nvPr/>
        </p:nvSpPr>
        <p:spPr>
          <a:xfrm>
            <a:off x="2743200" y="3291840"/>
            <a:ext cx="0" cy="502920"/>
          </a:xfrm>
          <a:prstGeom prst="line">
            <a:avLst/>
          </a:prstGeom>
          <a:noFill/>
          <a:ln w="12700">
            <a:solidFill>
              <a:srgbClr val="D1D5DB"/>
            </a:solidFill>
            <a:prstDash val="solid"/>
          </a:ln>
        </p:spPr>
        <p:txBody>
          <a:bodyPr/>
          <a:lstStyle/>
          <a:p>
            <a:endParaRPr lang="en-US"/>
          </a:p>
        </p:txBody>
      </p:sp>
      <p:sp>
        <p:nvSpPr>
          <p:cNvPr id="13" name="tick">
            <a:extLst>
              <a:ext uri="{C183D7F6-B498-43B3-948B-1728B52AA6E4}">
                <adec:decorative xmlns:adec="http://schemas.microsoft.com/office/drawing/2017/decorative" val="1"/>
              </a:ext>
            </a:extLst>
          </p:cNvPr>
          <p:cNvSpPr/>
          <p:nvPr/>
        </p:nvSpPr>
        <p:spPr>
          <a:xfrm>
            <a:off x="3108960" y="3291840"/>
            <a:ext cx="0" cy="502920"/>
          </a:xfrm>
          <a:prstGeom prst="line">
            <a:avLst/>
          </a:prstGeom>
          <a:noFill/>
          <a:ln w="12700">
            <a:solidFill>
              <a:srgbClr val="D1D5DB"/>
            </a:solidFill>
            <a:prstDash val="solid"/>
          </a:ln>
        </p:spPr>
        <p:txBody>
          <a:bodyPr/>
          <a:lstStyle/>
          <a:p>
            <a:endParaRPr lang="en-US"/>
          </a:p>
        </p:txBody>
      </p:sp>
      <p:sp>
        <p:nvSpPr>
          <p:cNvPr id="14" name="tick">
            <a:extLst>
              <a:ext uri="{C183D7F6-B498-43B3-948B-1728B52AA6E4}">
                <adec:decorative xmlns:adec="http://schemas.microsoft.com/office/drawing/2017/decorative" val="1"/>
              </a:ext>
            </a:extLst>
          </p:cNvPr>
          <p:cNvSpPr/>
          <p:nvPr/>
        </p:nvSpPr>
        <p:spPr>
          <a:xfrm>
            <a:off x="3474720" y="3291840"/>
            <a:ext cx="0" cy="502920"/>
          </a:xfrm>
          <a:prstGeom prst="line">
            <a:avLst/>
          </a:prstGeom>
          <a:noFill/>
          <a:ln w="12700">
            <a:solidFill>
              <a:srgbClr val="D1D5DB"/>
            </a:solidFill>
            <a:prstDash val="solid"/>
          </a:ln>
        </p:spPr>
        <p:txBody>
          <a:bodyPr/>
          <a:lstStyle/>
          <a:p>
            <a:endParaRPr lang="en-US"/>
          </a:p>
        </p:txBody>
      </p:sp>
      <p:sp>
        <p:nvSpPr>
          <p:cNvPr id="15" name="tick">
            <a:extLst>
              <a:ext uri="{C183D7F6-B498-43B3-948B-1728B52AA6E4}">
                <adec:decorative xmlns:adec="http://schemas.microsoft.com/office/drawing/2017/decorative" val="1"/>
              </a:ext>
            </a:extLst>
          </p:cNvPr>
          <p:cNvSpPr/>
          <p:nvPr/>
        </p:nvSpPr>
        <p:spPr>
          <a:xfrm>
            <a:off x="3840480" y="3291840"/>
            <a:ext cx="0" cy="502920"/>
          </a:xfrm>
          <a:prstGeom prst="line">
            <a:avLst/>
          </a:prstGeom>
          <a:noFill/>
          <a:ln w="12700">
            <a:solidFill>
              <a:srgbClr val="D1D5DB"/>
            </a:solidFill>
            <a:prstDash val="solid"/>
          </a:ln>
        </p:spPr>
        <p:txBody>
          <a:bodyPr/>
          <a:lstStyle/>
          <a:p>
            <a:endParaRPr lang="en-US"/>
          </a:p>
        </p:txBody>
      </p:sp>
      <p:sp>
        <p:nvSpPr>
          <p:cNvPr id="16" name="tick">
            <a:extLst>
              <a:ext uri="{C183D7F6-B498-43B3-948B-1728B52AA6E4}">
                <adec:decorative xmlns:adec="http://schemas.microsoft.com/office/drawing/2017/decorative" val="1"/>
              </a:ext>
            </a:extLst>
          </p:cNvPr>
          <p:cNvSpPr/>
          <p:nvPr/>
        </p:nvSpPr>
        <p:spPr>
          <a:xfrm>
            <a:off x="4206240" y="3291840"/>
            <a:ext cx="0" cy="502920"/>
          </a:xfrm>
          <a:prstGeom prst="line">
            <a:avLst/>
          </a:prstGeom>
          <a:noFill/>
          <a:ln w="12700">
            <a:solidFill>
              <a:srgbClr val="D1D5DB"/>
            </a:solidFill>
            <a:prstDash val="solid"/>
          </a:ln>
        </p:spPr>
        <p:txBody>
          <a:bodyPr anchor="t"/>
          <a:lstStyle/>
          <a:p>
            <a:endParaRPr lang="en-US"/>
          </a:p>
        </p:txBody>
      </p:sp>
      <p:sp>
        <p:nvSpPr>
          <p:cNvPr id="17" name="tick">
            <a:extLst>
              <a:ext uri="{C183D7F6-B498-43B3-948B-1728B52AA6E4}">
                <adec:decorative xmlns:adec="http://schemas.microsoft.com/office/drawing/2017/decorative" val="1"/>
              </a:ext>
            </a:extLst>
          </p:cNvPr>
          <p:cNvSpPr/>
          <p:nvPr/>
        </p:nvSpPr>
        <p:spPr>
          <a:xfrm>
            <a:off x="4572000" y="3291840"/>
            <a:ext cx="0" cy="502920"/>
          </a:xfrm>
          <a:prstGeom prst="line">
            <a:avLst/>
          </a:prstGeom>
          <a:noFill/>
          <a:ln w="12700">
            <a:solidFill>
              <a:srgbClr val="D1D5DB"/>
            </a:solidFill>
            <a:prstDash val="solid"/>
          </a:ln>
        </p:spPr>
        <p:txBody>
          <a:bodyPr/>
          <a:lstStyle/>
          <a:p>
            <a:endParaRPr lang="en-US"/>
          </a:p>
        </p:txBody>
      </p:sp>
      <p:sp>
        <p:nvSpPr>
          <p:cNvPr id="18" name="tick">
            <a:extLst>
              <a:ext uri="{C183D7F6-B498-43B3-948B-1728B52AA6E4}">
                <adec:decorative xmlns:adec="http://schemas.microsoft.com/office/drawing/2017/decorative" val="1"/>
              </a:ext>
            </a:extLst>
          </p:cNvPr>
          <p:cNvSpPr/>
          <p:nvPr/>
        </p:nvSpPr>
        <p:spPr>
          <a:xfrm>
            <a:off x="4937760" y="3291840"/>
            <a:ext cx="0" cy="502920"/>
          </a:xfrm>
          <a:prstGeom prst="line">
            <a:avLst/>
          </a:prstGeom>
          <a:noFill/>
          <a:ln w="12700">
            <a:solidFill>
              <a:srgbClr val="D1D5DB"/>
            </a:solidFill>
            <a:prstDash val="solid"/>
          </a:ln>
        </p:spPr>
        <p:txBody>
          <a:bodyPr/>
          <a:lstStyle/>
          <a:p>
            <a:endParaRPr lang="en-US"/>
          </a:p>
        </p:txBody>
      </p:sp>
      <p:sp>
        <p:nvSpPr>
          <p:cNvPr id="19" name="tick">
            <a:extLst>
              <a:ext uri="{C183D7F6-B498-43B3-948B-1728B52AA6E4}">
                <adec:decorative xmlns:adec="http://schemas.microsoft.com/office/drawing/2017/decorative" val="1"/>
              </a:ext>
            </a:extLst>
          </p:cNvPr>
          <p:cNvSpPr/>
          <p:nvPr/>
        </p:nvSpPr>
        <p:spPr>
          <a:xfrm>
            <a:off x="5303520" y="3291840"/>
            <a:ext cx="0" cy="502920"/>
          </a:xfrm>
          <a:prstGeom prst="line">
            <a:avLst/>
          </a:prstGeom>
          <a:noFill/>
          <a:ln w="12700">
            <a:solidFill>
              <a:srgbClr val="D1D5DB"/>
            </a:solidFill>
            <a:prstDash val="solid"/>
          </a:ln>
        </p:spPr>
        <p:txBody>
          <a:bodyPr/>
          <a:lstStyle/>
          <a:p>
            <a:endParaRPr lang="en-US"/>
          </a:p>
        </p:txBody>
      </p:sp>
      <p:sp>
        <p:nvSpPr>
          <p:cNvPr id="20" name="tick">
            <a:extLst>
              <a:ext uri="{C183D7F6-B498-43B3-948B-1728B52AA6E4}">
                <adec:decorative xmlns:adec="http://schemas.microsoft.com/office/drawing/2017/decorative" val="1"/>
              </a:ext>
            </a:extLst>
          </p:cNvPr>
          <p:cNvSpPr/>
          <p:nvPr/>
        </p:nvSpPr>
        <p:spPr>
          <a:xfrm>
            <a:off x="5669280" y="3291840"/>
            <a:ext cx="0" cy="502920"/>
          </a:xfrm>
          <a:prstGeom prst="line">
            <a:avLst/>
          </a:prstGeom>
          <a:noFill/>
          <a:ln w="12700">
            <a:solidFill>
              <a:srgbClr val="D1D5DB"/>
            </a:solidFill>
            <a:prstDash val="solid"/>
          </a:ln>
        </p:spPr>
        <p:txBody>
          <a:bodyPr/>
          <a:lstStyle/>
          <a:p>
            <a:endParaRPr lang="en-US"/>
          </a:p>
        </p:txBody>
      </p:sp>
      <p:sp>
        <p:nvSpPr>
          <p:cNvPr id="21" name="tick">
            <a:extLst>
              <a:ext uri="{C183D7F6-B498-43B3-948B-1728B52AA6E4}">
                <adec:decorative xmlns:adec="http://schemas.microsoft.com/office/drawing/2017/decorative" val="1"/>
              </a:ext>
            </a:extLst>
          </p:cNvPr>
          <p:cNvSpPr/>
          <p:nvPr/>
        </p:nvSpPr>
        <p:spPr>
          <a:xfrm>
            <a:off x="6035040" y="3291840"/>
            <a:ext cx="0" cy="502920"/>
          </a:xfrm>
          <a:prstGeom prst="line">
            <a:avLst/>
          </a:prstGeom>
          <a:noFill/>
          <a:ln w="12700">
            <a:solidFill>
              <a:srgbClr val="D1D5DB"/>
            </a:solidFill>
            <a:prstDash val="solid"/>
          </a:ln>
        </p:spPr>
        <p:txBody>
          <a:bodyPr anchor="t"/>
          <a:lstStyle/>
          <a:p>
            <a:endParaRPr lang="en-US"/>
          </a:p>
        </p:txBody>
      </p:sp>
      <p:sp>
        <p:nvSpPr>
          <p:cNvPr id="22" name="tick">
            <a:extLst>
              <a:ext uri="{C183D7F6-B498-43B3-948B-1728B52AA6E4}">
                <adec:decorative xmlns:adec="http://schemas.microsoft.com/office/drawing/2017/decorative" val="1"/>
              </a:ext>
            </a:extLst>
          </p:cNvPr>
          <p:cNvSpPr/>
          <p:nvPr/>
        </p:nvSpPr>
        <p:spPr>
          <a:xfrm>
            <a:off x="6400800" y="3291840"/>
            <a:ext cx="0" cy="502920"/>
          </a:xfrm>
          <a:prstGeom prst="line">
            <a:avLst/>
          </a:prstGeom>
          <a:noFill/>
          <a:ln w="12700">
            <a:solidFill>
              <a:srgbClr val="D1D5DB"/>
            </a:solidFill>
            <a:prstDash val="solid"/>
          </a:ln>
        </p:spPr>
        <p:txBody>
          <a:bodyPr/>
          <a:lstStyle/>
          <a:p>
            <a:endParaRPr lang="en-US"/>
          </a:p>
        </p:txBody>
      </p:sp>
      <p:sp>
        <p:nvSpPr>
          <p:cNvPr id="23" name="tick">
            <a:extLst>
              <a:ext uri="{C183D7F6-B498-43B3-948B-1728B52AA6E4}">
                <adec:decorative xmlns:adec="http://schemas.microsoft.com/office/drawing/2017/decorative" val="1"/>
              </a:ext>
            </a:extLst>
          </p:cNvPr>
          <p:cNvSpPr/>
          <p:nvPr/>
        </p:nvSpPr>
        <p:spPr>
          <a:xfrm>
            <a:off x="6766560" y="3291840"/>
            <a:ext cx="0" cy="502920"/>
          </a:xfrm>
          <a:prstGeom prst="line">
            <a:avLst/>
          </a:prstGeom>
          <a:noFill/>
          <a:ln w="12700">
            <a:solidFill>
              <a:srgbClr val="D1D5DB"/>
            </a:solidFill>
            <a:prstDash val="solid"/>
          </a:ln>
        </p:spPr>
        <p:txBody>
          <a:bodyPr/>
          <a:lstStyle/>
          <a:p>
            <a:endParaRPr lang="en-US"/>
          </a:p>
        </p:txBody>
      </p:sp>
      <p:sp>
        <p:nvSpPr>
          <p:cNvPr id="24" name="tick">
            <a:extLst>
              <a:ext uri="{C183D7F6-B498-43B3-948B-1728B52AA6E4}">
                <adec:decorative xmlns:adec="http://schemas.microsoft.com/office/drawing/2017/decorative" val="1"/>
              </a:ext>
            </a:extLst>
          </p:cNvPr>
          <p:cNvSpPr/>
          <p:nvPr/>
        </p:nvSpPr>
        <p:spPr>
          <a:xfrm>
            <a:off x="7132320" y="3291840"/>
            <a:ext cx="0" cy="502920"/>
          </a:xfrm>
          <a:prstGeom prst="line">
            <a:avLst/>
          </a:prstGeom>
          <a:noFill/>
          <a:ln w="12700">
            <a:solidFill>
              <a:srgbClr val="D1D5DB"/>
            </a:solidFill>
            <a:prstDash val="solid"/>
          </a:ln>
        </p:spPr>
        <p:txBody>
          <a:bodyPr/>
          <a:lstStyle/>
          <a:p>
            <a:endParaRPr lang="en-US"/>
          </a:p>
        </p:txBody>
      </p:sp>
      <p:sp>
        <p:nvSpPr>
          <p:cNvPr id="25" name="tick">
            <a:extLst>
              <a:ext uri="{C183D7F6-B498-43B3-948B-1728B52AA6E4}">
                <adec:decorative xmlns:adec="http://schemas.microsoft.com/office/drawing/2017/decorative" val="1"/>
              </a:ext>
            </a:extLst>
          </p:cNvPr>
          <p:cNvSpPr/>
          <p:nvPr/>
        </p:nvSpPr>
        <p:spPr>
          <a:xfrm>
            <a:off x="7498080" y="3291840"/>
            <a:ext cx="0" cy="502920"/>
          </a:xfrm>
          <a:prstGeom prst="line">
            <a:avLst/>
          </a:prstGeom>
          <a:noFill/>
          <a:ln w="12700">
            <a:solidFill>
              <a:srgbClr val="D1D5DB"/>
            </a:solidFill>
            <a:prstDash val="solid"/>
          </a:ln>
        </p:spPr>
        <p:txBody>
          <a:bodyPr/>
          <a:lstStyle/>
          <a:p>
            <a:endParaRPr lang="en-US"/>
          </a:p>
        </p:txBody>
      </p:sp>
      <p:sp>
        <p:nvSpPr>
          <p:cNvPr id="26" name="tick">
            <a:extLst>
              <a:ext uri="{C183D7F6-B498-43B3-948B-1728B52AA6E4}">
                <adec:decorative xmlns:adec="http://schemas.microsoft.com/office/drawing/2017/decorative" val="1"/>
              </a:ext>
            </a:extLst>
          </p:cNvPr>
          <p:cNvSpPr/>
          <p:nvPr/>
        </p:nvSpPr>
        <p:spPr>
          <a:xfrm>
            <a:off x="7863840" y="3291840"/>
            <a:ext cx="0" cy="502920"/>
          </a:xfrm>
          <a:prstGeom prst="line">
            <a:avLst/>
          </a:prstGeom>
          <a:noFill/>
          <a:ln w="12700">
            <a:solidFill>
              <a:srgbClr val="D1D5DB"/>
            </a:solidFill>
            <a:prstDash val="solid"/>
          </a:ln>
        </p:spPr>
        <p:txBody>
          <a:bodyPr anchor="t"/>
          <a:lstStyle/>
          <a:p>
            <a:endParaRPr lang="en-US"/>
          </a:p>
        </p:txBody>
      </p:sp>
      <p:sp>
        <p:nvSpPr>
          <p:cNvPr id="27" name="tick">
            <a:extLst>
              <a:ext uri="{C183D7F6-B498-43B3-948B-1728B52AA6E4}">
                <adec:decorative xmlns:adec="http://schemas.microsoft.com/office/drawing/2017/decorative" val="1"/>
              </a:ext>
            </a:extLst>
          </p:cNvPr>
          <p:cNvSpPr/>
          <p:nvPr/>
        </p:nvSpPr>
        <p:spPr>
          <a:xfrm>
            <a:off x="8229600" y="3291840"/>
            <a:ext cx="0" cy="502920"/>
          </a:xfrm>
          <a:prstGeom prst="line">
            <a:avLst/>
          </a:prstGeom>
          <a:noFill/>
          <a:ln w="12700">
            <a:solidFill>
              <a:srgbClr val="D1D5DB"/>
            </a:solidFill>
            <a:prstDash val="solid"/>
          </a:ln>
        </p:spPr>
        <p:txBody>
          <a:bodyPr/>
          <a:lstStyle/>
          <a:p>
            <a:endParaRPr lang="en-US"/>
          </a:p>
        </p:txBody>
      </p:sp>
      <p:sp>
        <p:nvSpPr>
          <p:cNvPr id="28" name="highlighted moment marker">
            <a:extLst>
              <a:ext uri="{C183D7F6-B498-43B3-948B-1728B52AA6E4}">
                <adec:decorative xmlns:adec="http://schemas.microsoft.com/office/drawing/2017/decorative" val="1"/>
              </a:ext>
            </a:extLst>
          </p:cNvPr>
          <p:cNvSpPr/>
          <p:nvPr/>
        </p:nvSpPr>
        <p:spPr>
          <a:xfrm>
            <a:off x="5989320" y="3154680"/>
            <a:ext cx="457200" cy="777240"/>
          </a:xfrm>
          <a:prstGeom prst="rect">
            <a:avLst/>
          </a:prstGeom>
          <a:solidFill>
            <a:srgbClr val="1D4ED8"/>
          </a:solidFill>
          <a:ln/>
        </p:spPr>
        <p:txBody>
          <a:bodyPr anchor="t"/>
          <a:lstStyle/>
          <a:p>
            <a:endParaRPr lang="en-US"/>
          </a:p>
        </p:txBody>
      </p:sp>
      <p:sp>
        <p:nvSpPr>
          <p:cNvPr id="29" name="Text 27">
            <a:extLst>
              <a:ext uri="{C183D7F6-B498-43B3-948B-1728B52AA6E4}">
                <adec:decorative xmlns:adec="http://schemas.microsoft.com/office/drawing/2017/decorative" val="0"/>
              </a:ext>
            </a:extLst>
          </p:cNvPr>
          <p:cNvSpPr/>
          <p:nvPr/>
        </p:nvSpPr>
        <p:spPr>
          <a:xfrm>
            <a:off x="548640" y="3886200"/>
            <a:ext cx="914400" cy="274320"/>
          </a:xfrm>
          <a:prstGeom prst="rect">
            <a:avLst/>
          </a:prstGeom>
          <a:noFill/>
          <a:ln/>
        </p:spPr>
        <p:txBody>
          <a:bodyPr wrap="square" lIns="0" tIns="0" rIns="0" bIns="0" rtlCol="0" anchor="ctr"/>
          <a:lstStyle/>
          <a:p>
            <a:pPr marL="0" indent="0">
              <a:buNone/>
            </a:pPr>
            <a:r>
              <a:rPr lang="en-US" sz="1000" dirty="0">
                <a:solidFill>
                  <a:srgbClr val="6B7280"/>
                </a:solidFill>
                <a:latin typeface="Segoe UI" pitchFamily="34" charset="0"/>
                <a:ea typeface="Segoe UI" pitchFamily="34" charset="-122"/>
                <a:cs typeface="Segoe UI" pitchFamily="34" charset="-120"/>
              </a:rPr>
              <a:t>00:00</a:t>
            </a:r>
            <a:endParaRPr lang="en-US" sz="1000" dirty="0"/>
          </a:p>
        </p:txBody>
      </p:sp>
      <p:sp>
        <p:nvSpPr>
          <p:cNvPr id="30" name="Text 28"/>
          <p:cNvSpPr/>
          <p:nvPr/>
        </p:nvSpPr>
        <p:spPr>
          <a:xfrm>
            <a:off x="7680960" y="388620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Segoe UI" pitchFamily="34" charset="0"/>
                <a:ea typeface="Segoe UI" pitchFamily="34" charset="-122"/>
                <a:cs typeface="Segoe UI" pitchFamily="34" charset="-120"/>
              </a:rPr>
              <a:t>02:00</a:t>
            </a:r>
            <a:endParaRPr lang="en-US" sz="1000" dirty="0"/>
          </a:p>
        </p:txBody>
      </p:sp>
      <p:sp>
        <p:nvSpPr>
          <p:cNvPr id="31" name="Text 29"/>
          <p:cNvSpPr/>
          <p:nvPr/>
        </p:nvSpPr>
        <p:spPr>
          <a:xfrm>
            <a:off x="5120640" y="3886200"/>
            <a:ext cx="2194560" cy="274320"/>
          </a:xfrm>
          <a:prstGeom prst="rect">
            <a:avLst/>
          </a:prstGeom>
          <a:noFill/>
          <a:ln/>
        </p:spPr>
        <p:txBody>
          <a:bodyPr wrap="square" lIns="0" tIns="0" rIns="0" bIns="0" rtlCol="0" anchor="ctr"/>
          <a:lstStyle/>
          <a:p>
            <a:pPr marL="0" indent="0" algn="ctr">
              <a:buNone/>
            </a:pPr>
            <a:r>
              <a:rPr lang="en-US" sz="1100" b="1" dirty="0">
                <a:solidFill>
                  <a:srgbClr val="1D4ED8"/>
                </a:solidFill>
                <a:latin typeface="Segoe UI" pitchFamily="34" charset="0"/>
                <a:ea typeface="Segoe UI" pitchFamily="34" charset="-122"/>
                <a:cs typeface="Segoe UI" pitchFamily="34" charset="-120"/>
              </a:rPr>
              <a:t>The 6 seconds that matter</a:t>
            </a:r>
            <a:endParaRPr lang="en-US" sz="1100" dirty="0"/>
          </a:p>
        </p:txBody>
      </p:sp>
      <p:sp>
        <p:nvSpPr>
          <p:cNvPr id="32" name="Text 30"/>
          <p:cNvSpPr/>
          <p:nvPr/>
        </p:nvSpPr>
        <p:spPr>
          <a:xfrm>
            <a:off x="548640" y="4434840"/>
            <a:ext cx="8046720" cy="320040"/>
          </a:xfrm>
          <a:prstGeom prst="rect">
            <a:avLst/>
          </a:prstGeom>
          <a:noFill/>
          <a:ln/>
        </p:spPr>
        <p:txBody>
          <a:bodyPr wrap="square" lIns="0" tIns="0" rIns="0" bIns="0" rtlCol="0" anchor="ctr"/>
          <a:lstStyle/>
          <a:p>
            <a:pPr marL="0" indent="0">
              <a:buNone/>
            </a:pPr>
            <a:r>
              <a:rPr lang="en-US" sz="1200" dirty="0">
                <a:solidFill>
                  <a:srgbClr val="6B7280"/>
                </a:solidFill>
                <a:latin typeface="Segoe UI" pitchFamily="34" charset="0"/>
                <a:ea typeface="Segoe UI" pitchFamily="34" charset="-122"/>
                <a:cs typeface="Segoe UI" pitchFamily="34" charset="-120"/>
              </a:rPr>
              <a:t>Long recording  •  One decisive event  •  Manual review doesn't scale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8046720" cy="822960"/>
          </a:xfrm>
          <a:prstGeom prst="rect">
            <a:avLst/>
          </a:prstGeom>
          <a:noFill/>
          <a:ln/>
        </p:spPr>
        <p:txBody>
          <a:bodyPr wrap="square" lIns="0" tIns="0" rIns="0" bIns="0" rtlCol="0" anchor="t"/>
          <a:lstStyle/>
          <a:p>
            <a:pPr marL="0" indent="0" algn="l">
              <a:buNone/>
            </a:pPr>
            <a:r>
              <a:rPr lang="en-US" sz="2800" b="1" dirty="0">
                <a:solidFill>
                  <a:srgbClr val="1F2937"/>
                </a:solidFill>
                <a:latin typeface="Segoe UI" pitchFamily="34" charset="0"/>
                <a:ea typeface="Segoe UI" pitchFamily="34" charset="-122"/>
                <a:cs typeface="Segoe UI" pitchFamily="34" charset="-120"/>
              </a:rPr>
              <a:t>RoadLens turns video into searchable evidence</a:t>
            </a:r>
            <a:endParaRPr lang="en-US" sz="2800" dirty="0"/>
          </a:p>
        </p:txBody>
      </p:sp>
      <p:sp>
        <p:nvSpPr>
          <p:cNvPr id="3" name="stage card 1">
            <a:extLst>
              <a:ext uri="{C183D7F6-B498-43B3-948B-1728B52AA6E4}">
                <adec:decorative xmlns:adec="http://schemas.microsoft.com/office/drawing/2017/decorative" val="1"/>
              </a:ext>
            </a:extLst>
          </p:cNvPr>
          <p:cNvSpPr/>
          <p:nvPr/>
        </p:nvSpPr>
        <p:spPr>
          <a:xfrm>
            <a:off x="548640" y="1417320"/>
            <a:ext cx="1517904" cy="1371600"/>
          </a:xfrm>
          <a:prstGeom prst="rect">
            <a:avLst/>
          </a:prstGeom>
          <a:solidFill>
            <a:srgbClr val="F3F4F6"/>
          </a:solidFill>
          <a:ln w="12700">
            <a:solidFill>
              <a:srgbClr val="E5E7EB"/>
            </a:solidFill>
            <a:prstDash val="solid"/>
          </a:ln>
        </p:spPr>
        <p:txBody>
          <a:bodyPr/>
          <a:lstStyle/>
          <a:p>
            <a:endParaRPr lang="en-US"/>
          </a:p>
        </p:txBody>
      </p:sp>
      <p:sp>
        <p:nvSpPr>
          <p:cNvPr id="4" name="stage accent">
            <a:extLst>
              <a:ext uri="{C183D7F6-B498-43B3-948B-1728B52AA6E4}">
                <adec:decorative xmlns:adec="http://schemas.microsoft.com/office/drawing/2017/decorative" val="1"/>
              </a:ext>
            </a:extLst>
          </p:cNvPr>
          <p:cNvSpPr/>
          <p:nvPr/>
        </p:nvSpPr>
        <p:spPr>
          <a:xfrm>
            <a:off x="548640" y="1417320"/>
            <a:ext cx="1517904" cy="45720"/>
          </a:xfrm>
          <a:prstGeom prst="rect">
            <a:avLst/>
          </a:prstGeom>
          <a:solidFill>
            <a:srgbClr val="1D4ED8"/>
          </a:solidFill>
          <a:ln/>
        </p:spPr>
        <p:txBody>
          <a:bodyPr/>
          <a:lstStyle/>
          <a:p>
            <a:endParaRPr lang="en-US"/>
          </a:p>
        </p:txBody>
      </p:sp>
      <p:sp>
        <p:nvSpPr>
          <p:cNvPr id="5" name="Text 3"/>
          <p:cNvSpPr/>
          <p:nvPr/>
        </p:nvSpPr>
        <p:spPr>
          <a:xfrm>
            <a:off x="658368" y="1536192"/>
            <a:ext cx="640080" cy="274320"/>
          </a:xfrm>
          <a:prstGeom prst="rect">
            <a:avLst/>
          </a:prstGeom>
          <a:noFill/>
          <a:ln/>
        </p:spPr>
        <p:txBody>
          <a:bodyPr wrap="square" lIns="0" tIns="0" rIns="0" bIns="0" rtlCol="0" anchor="ctr"/>
          <a:lstStyle/>
          <a:p>
            <a:pPr marL="0" indent="0">
              <a:buNone/>
            </a:pPr>
            <a:r>
              <a:rPr lang="en-US" sz="1300" b="1" dirty="0">
                <a:solidFill>
                  <a:srgbClr val="1D4ED8"/>
                </a:solidFill>
                <a:latin typeface="Segoe UI" pitchFamily="34" charset="0"/>
                <a:ea typeface="Segoe UI" pitchFamily="34" charset="-122"/>
                <a:cs typeface="Segoe UI" pitchFamily="34" charset="-120"/>
              </a:rPr>
              <a:t>01</a:t>
            </a:r>
            <a:endParaRPr lang="en-US" sz="1300" dirty="0"/>
          </a:p>
        </p:txBody>
      </p:sp>
      <p:sp>
        <p:nvSpPr>
          <p:cNvPr id="6" name="Text 4"/>
          <p:cNvSpPr/>
          <p:nvPr/>
        </p:nvSpPr>
        <p:spPr>
          <a:xfrm>
            <a:off x="658368" y="1874520"/>
            <a:ext cx="1298448" cy="822960"/>
          </a:xfrm>
          <a:prstGeom prst="rect">
            <a:avLst/>
          </a:prstGeom>
          <a:noFill/>
          <a:ln/>
        </p:spPr>
        <p:txBody>
          <a:bodyPr wrap="square" lIns="0" tIns="0" rIns="0" bIns="0" rtlCol="0" anchor="t"/>
          <a:lstStyle/>
          <a:p>
            <a:pPr marL="0" indent="0">
              <a:buNone/>
            </a:pPr>
            <a:r>
              <a:rPr lang="en-US" sz="1300" dirty="0">
                <a:solidFill>
                  <a:srgbClr val="1F2937"/>
                </a:solidFill>
                <a:latin typeface="Segoe UI" pitchFamily="34" charset="0"/>
                <a:ea typeface="Segoe UI" pitchFamily="34" charset="-122"/>
                <a:cs typeface="Segoe UI" pitchFamily="34" charset="-120"/>
              </a:rPr>
              <a:t>Upload video</a:t>
            </a:r>
            <a:endParaRPr lang="en-US" sz="1300" dirty="0"/>
          </a:p>
        </p:txBody>
      </p:sp>
      <p:sp>
        <p:nvSpPr>
          <p:cNvPr id="7" name="Text 5">
            <a:extLst>
              <a:ext uri="{C183D7F6-B498-43B3-948B-1728B52AA6E4}">
                <adec:decorative xmlns:adec="http://schemas.microsoft.com/office/drawing/2017/decorative" val="0"/>
              </a:ext>
            </a:extLst>
          </p:cNvPr>
          <p:cNvSpPr/>
          <p:nvPr/>
        </p:nvSpPr>
        <p:spPr>
          <a:xfrm>
            <a:off x="2048256" y="1965960"/>
            <a:ext cx="182880" cy="274320"/>
          </a:xfrm>
          <a:prstGeom prst="rect">
            <a:avLst/>
          </a:prstGeom>
          <a:noFill/>
          <a:ln/>
        </p:spPr>
        <p:txBody>
          <a:bodyPr wrap="square" lIns="0" tIns="0" rIns="0" bIns="0" rtlCol="0" anchor="ctr"/>
          <a:lstStyle/>
          <a:p>
            <a:pPr marL="0" indent="0" algn="ctr">
              <a:buNone/>
            </a:pPr>
            <a:r>
              <a:rPr lang="en-US" sz="1600" b="1" dirty="0">
                <a:solidFill>
                  <a:srgbClr val="1D4ED8"/>
                </a:solidFill>
                <a:latin typeface="Segoe UI" pitchFamily="34" charset="0"/>
                <a:ea typeface="Segoe UI" pitchFamily="34" charset="-122"/>
                <a:cs typeface="Segoe UI" pitchFamily="34" charset="-120"/>
              </a:rPr>
              <a:t>›</a:t>
            </a:r>
            <a:endParaRPr lang="en-US" sz="1600" dirty="0"/>
          </a:p>
        </p:txBody>
      </p:sp>
      <p:sp>
        <p:nvSpPr>
          <p:cNvPr id="8" name="stage card 2">
            <a:extLst>
              <a:ext uri="{C183D7F6-B498-43B3-948B-1728B52AA6E4}">
                <adec:decorative xmlns:adec="http://schemas.microsoft.com/office/drawing/2017/decorative" val="1"/>
              </a:ext>
            </a:extLst>
          </p:cNvPr>
          <p:cNvSpPr/>
          <p:nvPr/>
        </p:nvSpPr>
        <p:spPr>
          <a:xfrm>
            <a:off x="2185416" y="1417320"/>
            <a:ext cx="1517904" cy="1371600"/>
          </a:xfrm>
          <a:prstGeom prst="rect">
            <a:avLst/>
          </a:prstGeom>
          <a:solidFill>
            <a:srgbClr val="F3F4F6"/>
          </a:solidFill>
          <a:ln w="12700">
            <a:solidFill>
              <a:srgbClr val="E5E7EB"/>
            </a:solidFill>
            <a:prstDash val="solid"/>
          </a:ln>
        </p:spPr>
        <p:txBody>
          <a:bodyPr/>
          <a:lstStyle/>
          <a:p>
            <a:endParaRPr lang="en-US"/>
          </a:p>
        </p:txBody>
      </p:sp>
      <p:sp>
        <p:nvSpPr>
          <p:cNvPr id="9" name="stage accent">
            <a:extLst>
              <a:ext uri="{C183D7F6-B498-43B3-948B-1728B52AA6E4}">
                <adec:decorative xmlns:adec="http://schemas.microsoft.com/office/drawing/2017/decorative" val="1"/>
              </a:ext>
            </a:extLst>
          </p:cNvPr>
          <p:cNvSpPr/>
          <p:nvPr/>
        </p:nvSpPr>
        <p:spPr>
          <a:xfrm>
            <a:off x="2185416" y="1417320"/>
            <a:ext cx="1517904" cy="45720"/>
          </a:xfrm>
          <a:prstGeom prst="rect">
            <a:avLst/>
          </a:prstGeom>
          <a:solidFill>
            <a:srgbClr val="1D4ED8"/>
          </a:solidFill>
          <a:ln/>
        </p:spPr>
        <p:txBody>
          <a:bodyPr anchor="t"/>
          <a:lstStyle/>
          <a:p>
            <a:endParaRPr lang="en-US"/>
          </a:p>
        </p:txBody>
      </p:sp>
      <p:sp>
        <p:nvSpPr>
          <p:cNvPr id="10" name="Text 8"/>
          <p:cNvSpPr/>
          <p:nvPr/>
        </p:nvSpPr>
        <p:spPr>
          <a:xfrm>
            <a:off x="2295144" y="1536192"/>
            <a:ext cx="640080" cy="274320"/>
          </a:xfrm>
          <a:prstGeom prst="rect">
            <a:avLst/>
          </a:prstGeom>
          <a:noFill/>
          <a:ln/>
        </p:spPr>
        <p:txBody>
          <a:bodyPr wrap="square" lIns="0" tIns="0" rIns="0" bIns="0" rtlCol="0" anchor="ctr"/>
          <a:lstStyle/>
          <a:p>
            <a:pPr marL="0" indent="0">
              <a:buNone/>
            </a:pPr>
            <a:r>
              <a:rPr lang="en-US" sz="1300" b="1" dirty="0">
                <a:solidFill>
                  <a:srgbClr val="1D4ED8"/>
                </a:solidFill>
                <a:latin typeface="Segoe UI" pitchFamily="34" charset="0"/>
                <a:ea typeface="Segoe UI" pitchFamily="34" charset="-122"/>
                <a:cs typeface="Segoe UI" pitchFamily="34" charset="-120"/>
              </a:rPr>
              <a:t>02</a:t>
            </a:r>
            <a:endParaRPr lang="en-US" sz="1300" dirty="0"/>
          </a:p>
        </p:txBody>
      </p:sp>
      <p:sp>
        <p:nvSpPr>
          <p:cNvPr id="11" name="Text 9">
            <a:extLst>
              <a:ext uri="{C183D7F6-B498-43B3-948B-1728B52AA6E4}">
                <adec:decorative xmlns:adec="http://schemas.microsoft.com/office/drawing/2017/decorative" val="0"/>
              </a:ext>
            </a:extLst>
          </p:cNvPr>
          <p:cNvSpPr/>
          <p:nvPr/>
        </p:nvSpPr>
        <p:spPr>
          <a:xfrm>
            <a:off x="2295144" y="1874520"/>
            <a:ext cx="1298448" cy="822960"/>
          </a:xfrm>
          <a:prstGeom prst="rect">
            <a:avLst/>
          </a:prstGeom>
          <a:noFill/>
          <a:ln/>
        </p:spPr>
        <p:txBody>
          <a:bodyPr wrap="square" lIns="0" tIns="0" rIns="0" bIns="0" rtlCol="0"/>
          <a:lstStyle/>
          <a:p>
            <a:pPr marL="0" indent="0">
              <a:buNone/>
            </a:pPr>
            <a:r>
              <a:rPr lang="en-US" sz="1300" dirty="0">
                <a:solidFill>
                  <a:srgbClr val="1F2937"/>
                </a:solidFill>
                <a:latin typeface="Segoe UI" pitchFamily="34" charset="0"/>
                <a:ea typeface="Segoe UI" pitchFamily="34" charset="-122"/>
                <a:cs typeface="Segoe UI" pitchFamily="34" charset="-120"/>
              </a:rPr>
              <a:t>Sample frames</a:t>
            </a:r>
            <a:endParaRPr lang="en-US" sz="1300" dirty="0"/>
          </a:p>
        </p:txBody>
      </p:sp>
      <p:sp>
        <p:nvSpPr>
          <p:cNvPr id="12" name="Text 10">
            <a:extLst>
              <a:ext uri="{C183D7F6-B498-43B3-948B-1728B52AA6E4}">
                <adec:decorative xmlns:adec="http://schemas.microsoft.com/office/drawing/2017/decorative" val="0"/>
              </a:ext>
            </a:extLst>
          </p:cNvPr>
          <p:cNvSpPr/>
          <p:nvPr/>
        </p:nvSpPr>
        <p:spPr>
          <a:xfrm>
            <a:off x="3685032" y="1965960"/>
            <a:ext cx="182880" cy="274320"/>
          </a:xfrm>
          <a:prstGeom prst="rect">
            <a:avLst/>
          </a:prstGeom>
          <a:noFill/>
          <a:ln/>
        </p:spPr>
        <p:txBody>
          <a:bodyPr wrap="square" lIns="0" tIns="0" rIns="0" bIns="0" rtlCol="0" anchor="ctr"/>
          <a:lstStyle/>
          <a:p>
            <a:pPr marL="0" indent="0" algn="ctr">
              <a:buNone/>
            </a:pPr>
            <a:r>
              <a:rPr lang="en-US" sz="1600" b="1" dirty="0">
                <a:solidFill>
                  <a:srgbClr val="1D4ED8"/>
                </a:solidFill>
                <a:latin typeface="Segoe UI" pitchFamily="34" charset="0"/>
                <a:ea typeface="Segoe UI" pitchFamily="34" charset="-122"/>
                <a:cs typeface="Segoe UI" pitchFamily="34" charset="-120"/>
              </a:rPr>
              <a:t>›</a:t>
            </a:r>
            <a:endParaRPr lang="en-US" sz="1600" dirty="0"/>
          </a:p>
        </p:txBody>
      </p:sp>
      <p:sp>
        <p:nvSpPr>
          <p:cNvPr id="13" name="stage card 3">
            <a:extLst>
              <a:ext uri="{C183D7F6-B498-43B3-948B-1728B52AA6E4}">
                <adec:decorative xmlns:adec="http://schemas.microsoft.com/office/drawing/2017/decorative" val="1"/>
              </a:ext>
            </a:extLst>
          </p:cNvPr>
          <p:cNvSpPr/>
          <p:nvPr/>
        </p:nvSpPr>
        <p:spPr>
          <a:xfrm>
            <a:off x="3822192" y="1417320"/>
            <a:ext cx="1517904" cy="1371600"/>
          </a:xfrm>
          <a:prstGeom prst="rect">
            <a:avLst/>
          </a:prstGeom>
          <a:solidFill>
            <a:srgbClr val="F3F4F6"/>
          </a:solidFill>
          <a:ln w="12700">
            <a:solidFill>
              <a:srgbClr val="E5E7EB"/>
            </a:solidFill>
            <a:prstDash val="solid"/>
          </a:ln>
        </p:spPr>
        <p:txBody>
          <a:bodyPr anchor="t"/>
          <a:lstStyle/>
          <a:p>
            <a:endParaRPr lang="en-US"/>
          </a:p>
        </p:txBody>
      </p:sp>
      <p:sp>
        <p:nvSpPr>
          <p:cNvPr id="14" name="stage accent">
            <a:extLst>
              <a:ext uri="{C183D7F6-B498-43B3-948B-1728B52AA6E4}">
                <adec:decorative xmlns:adec="http://schemas.microsoft.com/office/drawing/2017/decorative" val="1"/>
              </a:ext>
            </a:extLst>
          </p:cNvPr>
          <p:cNvSpPr/>
          <p:nvPr/>
        </p:nvSpPr>
        <p:spPr>
          <a:xfrm>
            <a:off x="3822192" y="1417320"/>
            <a:ext cx="1517904" cy="45720"/>
          </a:xfrm>
          <a:prstGeom prst="rect">
            <a:avLst/>
          </a:prstGeom>
          <a:solidFill>
            <a:srgbClr val="1D4ED8"/>
          </a:solidFill>
          <a:ln/>
        </p:spPr>
        <p:txBody>
          <a:bodyPr anchor="t"/>
          <a:lstStyle/>
          <a:p>
            <a:endParaRPr lang="en-US"/>
          </a:p>
        </p:txBody>
      </p:sp>
      <p:sp>
        <p:nvSpPr>
          <p:cNvPr id="15" name="Text 13"/>
          <p:cNvSpPr/>
          <p:nvPr/>
        </p:nvSpPr>
        <p:spPr>
          <a:xfrm>
            <a:off x="3931920" y="1536192"/>
            <a:ext cx="640080" cy="274320"/>
          </a:xfrm>
          <a:prstGeom prst="rect">
            <a:avLst/>
          </a:prstGeom>
          <a:noFill/>
          <a:ln/>
        </p:spPr>
        <p:txBody>
          <a:bodyPr wrap="square" lIns="0" tIns="0" rIns="0" bIns="0" rtlCol="0" anchor="ctr"/>
          <a:lstStyle/>
          <a:p>
            <a:pPr marL="0" indent="0">
              <a:buNone/>
            </a:pPr>
            <a:r>
              <a:rPr lang="en-US" sz="1300" b="1" dirty="0">
                <a:solidFill>
                  <a:srgbClr val="1D4ED8"/>
                </a:solidFill>
                <a:latin typeface="Segoe UI" pitchFamily="34" charset="0"/>
                <a:ea typeface="Segoe UI" pitchFamily="34" charset="-122"/>
                <a:cs typeface="Segoe UI" pitchFamily="34" charset="-120"/>
              </a:rPr>
              <a:t>03</a:t>
            </a:r>
            <a:endParaRPr lang="en-US" sz="1300" dirty="0"/>
          </a:p>
        </p:txBody>
      </p:sp>
      <p:sp>
        <p:nvSpPr>
          <p:cNvPr id="16" name="Text 14"/>
          <p:cNvSpPr/>
          <p:nvPr/>
        </p:nvSpPr>
        <p:spPr>
          <a:xfrm>
            <a:off x="3931920" y="1874520"/>
            <a:ext cx="1298448" cy="822960"/>
          </a:xfrm>
          <a:prstGeom prst="rect">
            <a:avLst/>
          </a:prstGeom>
          <a:noFill/>
          <a:ln/>
        </p:spPr>
        <p:txBody>
          <a:bodyPr wrap="square" lIns="0" tIns="0" rIns="0" bIns="0" rtlCol="0" anchor="t"/>
          <a:lstStyle/>
          <a:p>
            <a:pPr marL="0" indent="0">
              <a:buNone/>
            </a:pPr>
            <a:r>
              <a:rPr lang="en-US" sz="1300" dirty="0">
                <a:solidFill>
                  <a:srgbClr val="1F2937"/>
                </a:solidFill>
                <a:latin typeface="Segoe UI" pitchFamily="34" charset="0"/>
                <a:ea typeface="Segoe UI" pitchFamily="34" charset="-122"/>
                <a:cs typeface="Segoe UI" pitchFamily="34" charset="-120"/>
              </a:rPr>
              <a:t>Detect people and vehicles</a:t>
            </a:r>
            <a:endParaRPr lang="en-US" sz="1300" dirty="0"/>
          </a:p>
        </p:txBody>
      </p:sp>
      <p:sp>
        <p:nvSpPr>
          <p:cNvPr id="17" name="Text 15"/>
          <p:cNvSpPr/>
          <p:nvPr/>
        </p:nvSpPr>
        <p:spPr>
          <a:xfrm>
            <a:off x="5321808" y="1965960"/>
            <a:ext cx="182880" cy="274320"/>
          </a:xfrm>
          <a:prstGeom prst="rect">
            <a:avLst/>
          </a:prstGeom>
          <a:noFill/>
          <a:ln/>
        </p:spPr>
        <p:txBody>
          <a:bodyPr wrap="square" lIns="0" tIns="0" rIns="0" bIns="0" rtlCol="0" anchor="ctr"/>
          <a:lstStyle/>
          <a:p>
            <a:pPr marL="0" indent="0" algn="ctr">
              <a:buNone/>
            </a:pPr>
            <a:r>
              <a:rPr lang="en-US" sz="1600" b="1" dirty="0">
                <a:solidFill>
                  <a:srgbClr val="1D4ED8"/>
                </a:solidFill>
                <a:latin typeface="Segoe UI" pitchFamily="34" charset="0"/>
                <a:ea typeface="Segoe UI" pitchFamily="34" charset="-122"/>
                <a:cs typeface="Segoe UI" pitchFamily="34" charset="-120"/>
              </a:rPr>
              <a:t>›</a:t>
            </a:r>
            <a:endParaRPr lang="en-US" sz="1600" dirty="0"/>
          </a:p>
        </p:txBody>
      </p:sp>
      <p:sp>
        <p:nvSpPr>
          <p:cNvPr id="18" name="stage card 4">
            <a:extLst>
              <a:ext uri="{C183D7F6-B498-43B3-948B-1728B52AA6E4}">
                <adec:decorative xmlns:adec="http://schemas.microsoft.com/office/drawing/2017/decorative" val="1"/>
              </a:ext>
            </a:extLst>
          </p:cNvPr>
          <p:cNvSpPr/>
          <p:nvPr/>
        </p:nvSpPr>
        <p:spPr>
          <a:xfrm>
            <a:off x="5458968" y="1417320"/>
            <a:ext cx="1517904" cy="1371600"/>
          </a:xfrm>
          <a:prstGeom prst="rect">
            <a:avLst/>
          </a:prstGeom>
          <a:solidFill>
            <a:srgbClr val="F3F4F6"/>
          </a:solidFill>
          <a:ln w="12700">
            <a:solidFill>
              <a:srgbClr val="E5E7EB"/>
            </a:solidFill>
            <a:prstDash val="solid"/>
          </a:ln>
        </p:spPr>
        <p:txBody>
          <a:bodyPr/>
          <a:lstStyle/>
          <a:p>
            <a:endParaRPr lang="en-US"/>
          </a:p>
        </p:txBody>
      </p:sp>
      <p:sp>
        <p:nvSpPr>
          <p:cNvPr id="19" name="stage accent">
            <a:extLst>
              <a:ext uri="{C183D7F6-B498-43B3-948B-1728B52AA6E4}">
                <adec:decorative xmlns:adec="http://schemas.microsoft.com/office/drawing/2017/decorative" val="1"/>
              </a:ext>
            </a:extLst>
          </p:cNvPr>
          <p:cNvSpPr/>
          <p:nvPr/>
        </p:nvSpPr>
        <p:spPr>
          <a:xfrm>
            <a:off x="5458968" y="1417320"/>
            <a:ext cx="1517904" cy="45720"/>
          </a:xfrm>
          <a:prstGeom prst="rect">
            <a:avLst/>
          </a:prstGeom>
          <a:solidFill>
            <a:srgbClr val="1D4ED8"/>
          </a:solidFill>
          <a:ln/>
        </p:spPr>
        <p:txBody>
          <a:bodyPr/>
          <a:lstStyle/>
          <a:p>
            <a:endParaRPr lang="en-US"/>
          </a:p>
        </p:txBody>
      </p:sp>
      <p:sp>
        <p:nvSpPr>
          <p:cNvPr id="20" name="Text 18"/>
          <p:cNvSpPr/>
          <p:nvPr/>
        </p:nvSpPr>
        <p:spPr>
          <a:xfrm>
            <a:off x="5568696" y="1536192"/>
            <a:ext cx="640080" cy="274320"/>
          </a:xfrm>
          <a:prstGeom prst="rect">
            <a:avLst/>
          </a:prstGeom>
          <a:noFill/>
          <a:ln/>
        </p:spPr>
        <p:txBody>
          <a:bodyPr wrap="square" lIns="0" tIns="0" rIns="0" bIns="0" rtlCol="0" anchor="ctr"/>
          <a:lstStyle/>
          <a:p>
            <a:pPr marL="0" indent="0">
              <a:buNone/>
            </a:pPr>
            <a:r>
              <a:rPr lang="en-US" sz="1300" b="1" dirty="0">
                <a:solidFill>
                  <a:srgbClr val="1D4ED8"/>
                </a:solidFill>
                <a:latin typeface="Segoe UI" pitchFamily="34" charset="0"/>
                <a:ea typeface="Segoe UI" pitchFamily="34" charset="-122"/>
                <a:cs typeface="Segoe UI" pitchFamily="34" charset="-120"/>
              </a:rPr>
              <a:t>04</a:t>
            </a:r>
            <a:endParaRPr lang="en-US" sz="1300" dirty="0"/>
          </a:p>
        </p:txBody>
      </p:sp>
      <p:sp>
        <p:nvSpPr>
          <p:cNvPr id="21" name="Text 19"/>
          <p:cNvSpPr/>
          <p:nvPr/>
        </p:nvSpPr>
        <p:spPr>
          <a:xfrm>
            <a:off x="5568696" y="1874520"/>
            <a:ext cx="1298448" cy="822960"/>
          </a:xfrm>
          <a:prstGeom prst="rect">
            <a:avLst/>
          </a:prstGeom>
          <a:noFill/>
          <a:ln/>
        </p:spPr>
        <p:txBody>
          <a:bodyPr wrap="square" lIns="0" tIns="0" rIns="0" bIns="0" rtlCol="0" anchor="t"/>
          <a:lstStyle/>
          <a:p>
            <a:pPr marL="0" indent="0">
              <a:buNone/>
            </a:pPr>
            <a:r>
              <a:rPr lang="en-US" sz="1300" dirty="0">
                <a:solidFill>
                  <a:srgbClr val="1F2937"/>
                </a:solidFill>
                <a:latin typeface="Segoe UI" pitchFamily="34" charset="0"/>
                <a:ea typeface="Segoe UI" pitchFamily="34" charset="-122"/>
                <a:cs typeface="Segoe UI" pitchFamily="34" charset="-120"/>
              </a:rPr>
              <a:t>Search with natural language</a:t>
            </a:r>
            <a:endParaRPr lang="en-US" sz="1300" dirty="0"/>
          </a:p>
        </p:txBody>
      </p:sp>
      <p:sp>
        <p:nvSpPr>
          <p:cNvPr id="22" name="Text 20"/>
          <p:cNvSpPr/>
          <p:nvPr/>
        </p:nvSpPr>
        <p:spPr>
          <a:xfrm>
            <a:off x="6958584" y="1965960"/>
            <a:ext cx="182880" cy="274320"/>
          </a:xfrm>
          <a:prstGeom prst="rect">
            <a:avLst/>
          </a:prstGeom>
          <a:noFill/>
          <a:ln/>
        </p:spPr>
        <p:txBody>
          <a:bodyPr wrap="square" lIns="0" tIns="0" rIns="0" bIns="0" rtlCol="0" anchor="ctr"/>
          <a:lstStyle/>
          <a:p>
            <a:pPr marL="0" indent="0" algn="ctr">
              <a:buNone/>
            </a:pPr>
            <a:r>
              <a:rPr lang="en-US" sz="1600" b="1" dirty="0">
                <a:solidFill>
                  <a:srgbClr val="1D4ED8"/>
                </a:solidFill>
                <a:latin typeface="Segoe UI" pitchFamily="34" charset="0"/>
                <a:ea typeface="Segoe UI" pitchFamily="34" charset="-122"/>
                <a:cs typeface="Segoe UI" pitchFamily="34" charset="-120"/>
              </a:rPr>
              <a:t>›</a:t>
            </a:r>
            <a:endParaRPr lang="en-US" sz="1600" dirty="0"/>
          </a:p>
        </p:txBody>
      </p:sp>
      <p:sp>
        <p:nvSpPr>
          <p:cNvPr id="23" name="stage card 5">
            <a:extLst>
              <a:ext uri="{C183D7F6-B498-43B3-948B-1728B52AA6E4}">
                <adec:decorative xmlns:adec="http://schemas.microsoft.com/office/drawing/2017/decorative" val="1"/>
              </a:ext>
            </a:extLst>
          </p:cNvPr>
          <p:cNvSpPr/>
          <p:nvPr/>
        </p:nvSpPr>
        <p:spPr>
          <a:xfrm>
            <a:off x="7095744" y="1417320"/>
            <a:ext cx="1517904" cy="1371600"/>
          </a:xfrm>
          <a:prstGeom prst="rect">
            <a:avLst/>
          </a:prstGeom>
          <a:solidFill>
            <a:srgbClr val="F3F4F6"/>
          </a:solidFill>
          <a:ln w="12700">
            <a:solidFill>
              <a:srgbClr val="E5E7EB"/>
            </a:solidFill>
            <a:prstDash val="solid"/>
          </a:ln>
        </p:spPr>
        <p:txBody>
          <a:bodyPr/>
          <a:lstStyle/>
          <a:p>
            <a:endParaRPr lang="en-US"/>
          </a:p>
        </p:txBody>
      </p:sp>
      <p:sp>
        <p:nvSpPr>
          <p:cNvPr id="24" name="stage accent">
            <a:extLst>
              <a:ext uri="{C183D7F6-B498-43B3-948B-1728B52AA6E4}">
                <adec:decorative xmlns:adec="http://schemas.microsoft.com/office/drawing/2017/decorative" val="1"/>
              </a:ext>
            </a:extLst>
          </p:cNvPr>
          <p:cNvSpPr/>
          <p:nvPr/>
        </p:nvSpPr>
        <p:spPr>
          <a:xfrm>
            <a:off x="7095744" y="1417320"/>
            <a:ext cx="1517904" cy="45720"/>
          </a:xfrm>
          <a:prstGeom prst="rect">
            <a:avLst/>
          </a:prstGeom>
          <a:solidFill>
            <a:srgbClr val="1D4ED8"/>
          </a:solidFill>
          <a:ln/>
        </p:spPr>
        <p:txBody>
          <a:bodyPr/>
          <a:lstStyle/>
          <a:p>
            <a:endParaRPr lang="en-US"/>
          </a:p>
        </p:txBody>
      </p:sp>
      <p:sp>
        <p:nvSpPr>
          <p:cNvPr id="25" name="Text 23"/>
          <p:cNvSpPr/>
          <p:nvPr/>
        </p:nvSpPr>
        <p:spPr>
          <a:xfrm>
            <a:off x="7205472" y="1536192"/>
            <a:ext cx="640080" cy="274320"/>
          </a:xfrm>
          <a:prstGeom prst="rect">
            <a:avLst/>
          </a:prstGeom>
          <a:noFill/>
          <a:ln/>
        </p:spPr>
        <p:txBody>
          <a:bodyPr wrap="square" lIns="0" tIns="0" rIns="0" bIns="0" rtlCol="0" anchor="ctr"/>
          <a:lstStyle/>
          <a:p>
            <a:pPr marL="0" indent="0">
              <a:buNone/>
            </a:pPr>
            <a:r>
              <a:rPr lang="en-US" sz="1300" b="1" dirty="0">
                <a:solidFill>
                  <a:srgbClr val="1D4ED8"/>
                </a:solidFill>
                <a:latin typeface="Segoe UI" pitchFamily="34" charset="0"/>
                <a:ea typeface="Segoe UI" pitchFamily="34" charset="-122"/>
                <a:cs typeface="Segoe UI" pitchFamily="34" charset="-120"/>
              </a:rPr>
              <a:t>05</a:t>
            </a:r>
            <a:endParaRPr lang="en-US" sz="1300" dirty="0"/>
          </a:p>
        </p:txBody>
      </p:sp>
      <p:sp>
        <p:nvSpPr>
          <p:cNvPr id="26" name="Text 24"/>
          <p:cNvSpPr/>
          <p:nvPr/>
        </p:nvSpPr>
        <p:spPr>
          <a:xfrm>
            <a:off x="7205472" y="1874520"/>
            <a:ext cx="1298448" cy="822960"/>
          </a:xfrm>
          <a:prstGeom prst="rect">
            <a:avLst/>
          </a:prstGeom>
          <a:noFill/>
          <a:ln/>
        </p:spPr>
        <p:txBody>
          <a:bodyPr wrap="square" lIns="0" tIns="0" rIns="0" bIns="0" rtlCol="0" anchor="t"/>
          <a:lstStyle/>
          <a:p>
            <a:pPr marL="0" indent="0">
              <a:buNone/>
            </a:pPr>
            <a:r>
              <a:rPr lang="en-US" sz="1300" dirty="0">
                <a:solidFill>
                  <a:srgbClr val="1F2937"/>
                </a:solidFill>
                <a:latin typeface="Segoe UI" pitchFamily="34" charset="0"/>
                <a:ea typeface="Segoe UI" pitchFamily="34" charset="-122"/>
                <a:cs typeface="Segoe UI" pitchFamily="34" charset="-120"/>
              </a:rPr>
              <a:t>Review matching timestamps</a:t>
            </a:r>
            <a:endParaRPr lang="en-US" sz="1300" dirty="0"/>
          </a:p>
        </p:txBody>
      </p:sp>
      <p:sp>
        <p:nvSpPr>
          <p:cNvPr id="27" name="divider">
            <a:extLst>
              <a:ext uri="{C183D7F6-B498-43B3-948B-1728B52AA6E4}">
                <adec:decorative xmlns:adec="http://schemas.microsoft.com/office/drawing/2017/decorative" val="1"/>
              </a:ext>
            </a:extLst>
          </p:cNvPr>
          <p:cNvSpPr/>
          <p:nvPr/>
        </p:nvSpPr>
        <p:spPr>
          <a:xfrm>
            <a:off x="548640" y="3154680"/>
            <a:ext cx="8046720" cy="0"/>
          </a:xfrm>
          <a:prstGeom prst="line">
            <a:avLst/>
          </a:prstGeom>
          <a:noFill/>
          <a:ln w="12700">
            <a:solidFill>
              <a:srgbClr val="E5E7EB"/>
            </a:solidFill>
            <a:prstDash val="solid"/>
          </a:ln>
        </p:spPr>
        <p:txBody>
          <a:bodyPr/>
          <a:lstStyle/>
          <a:p>
            <a:endParaRPr lang="en-US"/>
          </a:p>
        </p:txBody>
      </p:sp>
      <p:sp>
        <p:nvSpPr>
          <p:cNvPr id="28" name="Text 26"/>
          <p:cNvSpPr/>
          <p:nvPr/>
        </p:nvSpPr>
        <p:spPr>
          <a:xfrm>
            <a:off x="548640" y="3337560"/>
            <a:ext cx="393192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7"/>
                </a:solidFill>
                <a:latin typeface="Segoe UI" pitchFamily="34" charset="0"/>
                <a:ea typeface="Segoe UI" pitchFamily="34" charset="-122"/>
                <a:cs typeface="Segoe UI" pitchFamily="34" charset="-120"/>
              </a:rPr>
              <a:t>Upload an MP4 under 100 MB and two minutes.</a:t>
            </a:r>
            <a:endParaRPr lang="en-US" sz="1300" dirty="0"/>
          </a:p>
          <a:p>
            <a:pPr marL="342900" indent="-342900">
              <a:spcAft>
                <a:spcPts val="600"/>
              </a:spcAft>
              <a:buSzPct val="100000"/>
              <a:buChar char="•"/>
            </a:pPr>
            <a:r>
              <a:rPr lang="en-US" sz="1300" dirty="0">
                <a:solidFill>
                  <a:srgbClr val="1F2937"/>
                </a:solidFill>
                <a:latin typeface="Segoe UI" pitchFamily="34" charset="0"/>
                <a:ea typeface="Segoe UI" pitchFamily="34" charset="-122"/>
                <a:cs typeface="Segoe UI" pitchFamily="34" charset="-120"/>
              </a:rPr>
              <a:t>YOLO identifies people and common vehicle types.</a:t>
            </a:r>
            <a:endParaRPr lang="en-US" sz="1300" dirty="0"/>
          </a:p>
          <a:p>
            <a:pPr marL="342900" indent="-342900">
              <a:spcAft>
                <a:spcPts val="600"/>
              </a:spcAft>
              <a:buSzPct val="100000"/>
              <a:buChar char="•"/>
            </a:pPr>
            <a:r>
              <a:rPr lang="en-US" sz="1300" dirty="0">
                <a:solidFill>
                  <a:srgbClr val="1F2937"/>
                </a:solidFill>
                <a:latin typeface="Segoe UI" pitchFamily="34" charset="0"/>
                <a:ea typeface="Segoe UI" pitchFamily="34" charset="-122"/>
                <a:cs typeface="Segoe UI" pitchFamily="34" charset="-120"/>
              </a:rPr>
              <a:t>Results include thumbnails, timestamps and confidence scores.</a:t>
            </a:r>
            <a:endParaRPr lang="en-US" sz="1300" dirty="0"/>
          </a:p>
        </p:txBody>
      </p:sp>
      <p:sp>
        <p:nvSpPr>
          <p:cNvPr id="29" name="search example panel">
            <a:extLst>
              <a:ext uri="{C183D7F6-B498-43B3-948B-1728B52AA6E4}">
                <adec:decorative xmlns:adec="http://schemas.microsoft.com/office/drawing/2017/decorative" val="1"/>
              </a:ext>
            </a:extLst>
          </p:cNvPr>
          <p:cNvSpPr/>
          <p:nvPr/>
        </p:nvSpPr>
        <p:spPr>
          <a:xfrm>
            <a:off x="4663440" y="3337560"/>
            <a:ext cx="3931920" cy="1188720"/>
          </a:xfrm>
          <a:prstGeom prst="rect">
            <a:avLst/>
          </a:prstGeom>
          <a:solidFill>
            <a:srgbClr val="F3F4F6"/>
          </a:solidFill>
          <a:ln/>
        </p:spPr>
        <p:txBody>
          <a:bodyPr/>
          <a:lstStyle/>
          <a:p>
            <a:endParaRPr lang="en-US"/>
          </a:p>
        </p:txBody>
      </p:sp>
      <p:sp>
        <p:nvSpPr>
          <p:cNvPr id="30" name="Text 28"/>
          <p:cNvSpPr/>
          <p:nvPr/>
        </p:nvSpPr>
        <p:spPr>
          <a:xfrm>
            <a:off x="4846320" y="3456432"/>
            <a:ext cx="3657600" cy="274320"/>
          </a:xfrm>
          <a:prstGeom prst="rect">
            <a:avLst/>
          </a:prstGeom>
          <a:noFill/>
          <a:ln/>
        </p:spPr>
        <p:txBody>
          <a:bodyPr wrap="square" lIns="0" tIns="0" rIns="0" bIns="0" rtlCol="0" anchor="ctr"/>
          <a:lstStyle/>
          <a:p>
            <a:pPr marL="0" indent="0">
              <a:buNone/>
            </a:pPr>
            <a:r>
              <a:rPr lang="en-US" sz="1200" b="1" dirty="0">
                <a:solidFill>
                  <a:srgbClr val="6B7280"/>
                </a:solidFill>
                <a:latin typeface="Segoe UI" pitchFamily="34" charset="0"/>
                <a:ea typeface="Segoe UI" pitchFamily="34" charset="-122"/>
                <a:cs typeface="Segoe UI" pitchFamily="34" charset="-120"/>
              </a:rPr>
              <a:t>Search like you speak</a:t>
            </a:r>
            <a:endParaRPr lang="en-US" sz="1200" dirty="0"/>
          </a:p>
        </p:txBody>
      </p:sp>
      <p:sp>
        <p:nvSpPr>
          <p:cNvPr id="31" name="Text 29"/>
          <p:cNvSpPr/>
          <p:nvPr/>
        </p:nvSpPr>
        <p:spPr>
          <a:xfrm>
            <a:off x="4846320" y="3794760"/>
            <a:ext cx="3657600" cy="548640"/>
          </a:xfrm>
          <a:prstGeom prst="rect">
            <a:avLst/>
          </a:prstGeom>
          <a:noFill/>
          <a:ln/>
        </p:spPr>
        <p:txBody>
          <a:bodyPr wrap="square" lIns="0" tIns="0" rIns="0" bIns="0" rtlCol="0" anchor="ctr"/>
          <a:lstStyle/>
          <a:p>
            <a:pPr marL="0" indent="0">
              <a:buNone/>
            </a:pPr>
            <a:r>
              <a:rPr lang="en-US" sz="1500" b="1" dirty="0">
                <a:solidFill>
                  <a:srgbClr val="1D4ED8"/>
                </a:solidFill>
                <a:latin typeface="Segoe UI" pitchFamily="34" charset="0"/>
                <a:ea typeface="Segoe UI" pitchFamily="34" charset="-122"/>
                <a:cs typeface="Segoe UI" pitchFamily="34" charset="-120"/>
              </a:rPr>
              <a:t>“Show me people”        “Find the cars”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8046720" cy="822960"/>
          </a:xfrm>
          <a:prstGeom prst="rect">
            <a:avLst/>
          </a:prstGeom>
          <a:noFill/>
          <a:ln/>
        </p:spPr>
        <p:txBody>
          <a:bodyPr wrap="square" lIns="0" tIns="0" rIns="0" bIns="0" rtlCol="0" anchor="t"/>
          <a:lstStyle/>
          <a:p>
            <a:pPr marL="0" indent="0" algn="l">
              <a:buNone/>
            </a:pPr>
            <a:r>
              <a:rPr lang="en-US" sz="2800" b="1" dirty="0">
                <a:solidFill>
                  <a:srgbClr val="1F2937"/>
                </a:solidFill>
                <a:latin typeface="Segoe UI" pitchFamily="34" charset="0"/>
                <a:ea typeface="Segoe UI" pitchFamily="34" charset="-122"/>
                <a:cs typeface="Segoe UI" pitchFamily="34" charset="-120"/>
              </a:rPr>
              <a:t>The MVP already delivers a complete local workflow</a:t>
            </a:r>
            <a:endParaRPr lang="en-US" sz="2800" dirty="0"/>
          </a:p>
        </p:txBody>
      </p:sp>
      <p:sp>
        <p:nvSpPr>
          <p:cNvPr id="3" name="capability card">
            <a:extLst>
              <a:ext uri="{C183D7F6-B498-43B3-948B-1728B52AA6E4}">
                <adec:decorative xmlns:adec="http://schemas.microsoft.com/office/drawing/2017/decorative" val="1"/>
              </a:ext>
            </a:extLst>
          </p:cNvPr>
          <p:cNvSpPr/>
          <p:nvPr/>
        </p:nvSpPr>
        <p:spPr>
          <a:xfrm>
            <a:off x="548640" y="1371600"/>
            <a:ext cx="2624328" cy="3246120"/>
          </a:xfrm>
          <a:prstGeom prst="rect">
            <a:avLst/>
          </a:prstGeom>
          <a:solidFill>
            <a:srgbClr val="FFFFFF"/>
          </a:solidFill>
          <a:ln w="12700">
            <a:solidFill>
              <a:srgbClr val="E5E7EB"/>
            </a:solidFill>
            <a:prstDash val="solid"/>
          </a:ln>
        </p:spPr>
        <p:txBody>
          <a:bodyPr/>
          <a:lstStyle/>
          <a:p>
            <a:endParaRPr lang="en-US"/>
          </a:p>
        </p:txBody>
      </p:sp>
      <p:sp>
        <p:nvSpPr>
          <p:cNvPr id="4" name="card accent">
            <a:extLst>
              <a:ext uri="{C183D7F6-B498-43B3-948B-1728B52AA6E4}">
                <adec:decorative xmlns:adec="http://schemas.microsoft.com/office/drawing/2017/decorative" val="1"/>
              </a:ext>
            </a:extLst>
          </p:cNvPr>
          <p:cNvSpPr/>
          <p:nvPr/>
        </p:nvSpPr>
        <p:spPr>
          <a:xfrm>
            <a:off x="548640" y="1371600"/>
            <a:ext cx="2624328" cy="45720"/>
          </a:xfrm>
          <a:prstGeom prst="rect">
            <a:avLst/>
          </a:prstGeom>
          <a:solidFill>
            <a:srgbClr val="1D4ED8"/>
          </a:solidFill>
          <a:ln/>
        </p:spPr>
        <p:txBody>
          <a:bodyPr/>
          <a:lstStyle/>
          <a:p>
            <a:endParaRPr lang="en-US"/>
          </a:p>
        </p:txBody>
      </p:sp>
      <p:sp>
        <p:nvSpPr>
          <p:cNvPr id="5" name="Text 3"/>
          <p:cNvSpPr/>
          <p:nvPr/>
        </p:nvSpPr>
        <p:spPr>
          <a:xfrm>
            <a:off x="713232" y="1554480"/>
            <a:ext cx="2295144" cy="502920"/>
          </a:xfrm>
          <a:prstGeom prst="rect">
            <a:avLst/>
          </a:prstGeom>
          <a:noFill/>
          <a:ln/>
        </p:spPr>
        <p:txBody>
          <a:bodyPr wrap="square" lIns="0" tIns="0" rIns="0" bIns="0" rtlCol="0" anchor="t"/>
          <a:lstStyle/>
          <a:p>
            <a:pPr marL="0" indent="0">
              <a:buNone/>
            </a:pPr>
            <a:r>
              <a:rPr lang="en-US" sz="1500" b="1" dirty="0">
                <a:solidFill>
                  <a:srgbClr val="1F2937"/>
                </a:solidFill>
                <a:latin typeface="Segoe UI" pitchFamily="34" charset="0"/>
                <a:ea typeface="Segoe UI" pitchFamily="34" charset="-122"/>
                <a:cs typeface="Segoe UI" pitchFamily="34" charset="-120"/>
              </a:rPr>
              <a:t>Simple experience</a:t>
            </a:r>
            <a:endParaRPr lang="en-US" sz="1500" dirty="0"/>
          </a:p>
        </p:txBody>
      </p:sp>
      <p:sp>
        <p:nvSpPr>
          <p:cNvPr id="6" name="Text 4">
            <a:extLst>
              <a:ext uri="{C183D7F6-B498-43B3-948B-1728B52AA6E4}">
                <adec:decorative xmlns:adec="http://schemas.microsoft.com/office/drawing/2017/decorative" val="0"/>
              </a:ext>
            </a:extLst>
          </p:cNvPr>
          <p:cNvSpPr/>
          <p:nvPr/>
        </p:nvSpPr>
        <p:spPr>
          <a:xfrm>
            <a:off x="713232" y="2103120"/>
            <a:ext cx="2295144" cy="2377440"/>
          </a:xfrm>
          <a:prstGeom prst="rect">
            <a:avLst/>
          </a:prstGeom>
          <a:noFill/>
          <a:ln/>
        </p:spPr>
        <p:txBody>
          <a:bodyPr wrap="square" lIns="0" tIns="0" rIns="0" bIns="0" rtlCol="0"/>
          <a:lstStyle/>
          <a:p>
            <a:pPr marL="342900" indent="-342900">
              <a:spcAft>
                <a:spcPts val="600"/>
              </a:spcAft>
              <a:buSzPct val="100000"/>
              <a:buChar char="•"/>
            </a:pPr>
            <a:r>
              <a:rPr lang="en-US" sz="1200" dirty="0">
                <a:solidFill>
                  <a:srgbClr val="374151"/>
                </a:solidFill>
                <a:latin typeface="Segoe UI" pitchFamily="34" charset="0"/>
                <a:ea typeface="Segoe UI" pitchFamily="34" charset="-122"/>
                <a:cs typeface="Segoe UI" pitchFamily="34" charset="-120"/>
              </a:rPr>
              <a:t>Browser-based application</a:t>
            </a:r>
            <a:endParaRPr lang="en-US" sz="1200" dirty="0"/>
          </a:p>
          <a:p>
            <a:pPr marL="342900" indent="-342900">
              <a:spcAft>
                <a:spcPts val="600"/>
              </a:spcAft>
              <a:buSzPct val="100000"/>
              <a:buChar char="•"/>
            </a:pPr>
            <a:r>
              <a:rPr lang="en-US" sz="1200" dirty="0">
                <a:solidFill>
                  <a:srgbClr val="374151"/>
                </a:solidFill>
                <a:latin typeface="Segoe UI" pitchFamily="34" charset="0"/>
                <a:ea typeface="Segoe UI" pitchFamily="34" charset="-122"/>
                <a:cs typeface="Segoe UI" pitchFamily="34" charset="-120"/>
              </a:rPr>
              <a:t>Processing-progress display</a:t>
            </a:r>
            <a:endParaRPr lang="en-US" sz="1200" dirty="0"/>
          </a:p>
          <a:p>
            <a:pPr marL="342900" indent="-342900">
              <a:spcAft>
                <a:spcPts val="600"/>
              </a:spcAft>
              <a:buSzPct val="100000"/>
              <a:buChar char="•"/>
            </a:pPr>
            <a:r>
              <a:rPr lang="en-US" sz="1200" dirty="0">
                <a:solidFill>
                  <a:srgbClr val="374151"/>
                </a:solidFill>
                <a:latin typeface="Segoe UI" pitchFamily="34" charset="0"/>
                <a:ea typeface="Segoe UI" pitchFamily="34" charset="-122"/>
                <a:cs typeface="Segoe UI" pitchFamily="34" charset="-120"/>
              </a:rPr>
              <a:t>Searchable detection results</a:t>
            </a:r>
            <a:endParaRPr lang="en-US" sz="1200" dirty="0"/>
          </a:p>
          <a:p>
            <a:pPr marL="342900" indent="-342900">
              <a:spcAft>
                <a:spcPts val="600"/>
              </a:spcAft>
              <a:buSzPct val="100000"/>
              <a:buChar char="•"/>
            </a:pPr>
            <a:r>
              <a:rPr lang="en-US" sz="1200" dirty="0">
                <a:solidFill>
                  <a:srgbClr val="374151"/>
                </a:solidFill>
                <a:latin typeface="Segoe UI" pitchFamily="34" charset="0"/>
                <a:ea typeface="Segoe UI" pitchFamily="34" charset="-122"/>
                <a:cs typeface="Segoe UI" pitchFamily="34" charset="-120"/>
              </a:rPr>
              <a:t>Clear-session control</a:t>
            </a:r>
            <a:endParaRPr lang="en-US" sz="1200" dirty="0"/>
          </a:p>
        </p:txBody>
      </p:sp>
      <p:sp>
        <p:nvSpPr>
          <p:cNvPr id="7" name="capability card">
            <a:extLst>
              <a:ext uri="{C183D7F6-B498-43B3-948B-1728B52AA6E4}">
                <adec:decorative xmlns:adec="http://schemas.microsoft.com/office/drawing/2017/decorative" val="1"/>
              </a:ext>
            </a:extLst>
          </p:cNvPr>
          <p:cNvSpPr/>
          <p:nvPr/>
        </p:nvSpPr>
        <p:spPr>
          <a:xfrm>
            <a:off x="3264408" y="1371600"/>
            <a:ext cx="2624328" cy="3246120"/>
          </a:xfrm>
          <a:prstGeom prst="rect">
            <a:avLst/>
          </a:prstGeom>
          <a:solidFill>
            <a:srgbClr val="FFFFFF"/>
          </a:solidFill>
          <a:ln w="12700">
            <a:solidFill>
              <a:srgbClr val="E5E7EB"/>
            </a:solidFill>
            <a:prstDash val="solid"/>
          </a:ln>
        </p:spPr>
        <p:txBody>
          <a:bodyPr/>
          <a:lstStyle/>
          <a:p>
            <a:endParaRPr lang="en-US"/>
          </a:p>
        </p:txBody>
      </p:sp>
      <p:sp>
        <p:nvSpPr>
          <p:cNvPr id="8" name="card accent">
            <a:extLst>
              <a:ext uri="{C183D7F6-B498-43B3-948B-1728B52AA6E4}">
                <adec:decorative xmlns:adec="http://schemas.microsoft.com/office/drawing/2017/decorative" val="1"/>
              </a:ext>
            </a:extLst>
          </p:cNvPr>
          <p:cNvSpPr/>
          <p:nvPr/>
        </p:nvSpPr>
        <p:spPr>
          <a:xfrm>
            <a:off x="3264408" y="1371600"/>
            <a:ext cx="2624328" cy="45720"/>
          </a:xfrm>
          <a:prstGeom prst="rect">
            <a:avLst/>
          </a:prstGeom>
          <a:solidFill>
            <a:srgbClr val="1D4ED8"/>
          </a:solidFill>
          <a:ln/>
        </p:spPr>
        <p:txBody>
          <a:bodyPr anchor="t"/>
          <a:lstStyle/>
          <a:p>
            <a:endParaRPr lang="en-US"/>
          </a:p>
        </p:txBody>
      </p:sp>
      <p:sp>
        <p:nvSpPr>
          <p:cNvPr id="9" name="Text 7">
            <a:extLst>
              <a:ext uri="{C183D7F6-B498-43B3-948B-1728B52AA6E4}">
                <adec:decorative xmlns:adec="http://schemas.microsoft.com/office/drawing/2017/decorative" val="0"/>
              </a:ext>
            </a:extLst>
          </p:cNvPr>
          <p:cNvSpPr/>
          <p:nvPr/>
        </p:nvSpPr>
        <p:spPr>
          <a:xfrm>
            <a:off x="3429000" y="1554480"/>
            <a:ext cx="2295144" cy="502920"/>
          </a:xfrm>
          <a:prstGeom prst="rect">
            <a:avLst/>
          </a:prstGeom>
          <a:noFill/>
          <a:ln/>
        </p:spPr>
        <p:txBody>
          <a:bodyPr wrap="square" lIns="0" tIns="0" rIns="0" bIns="0" rtlCol="0"/>
          <a:lstStyle/>
          <a:p>
            <a:pPr marL="0" indent="0">
              <a:buNone/>
            </a:pPr>
            <a:r>
              <a:rPr lang="en-US" sz="1500" b="1" dirty="0">
                <a:solidFill>
                  <a:srgbClr val="1F2937"/>
                </a:solidFill>
                <a:latin typeface="Segoe UI" pitchFamily="34" charset="0"/>
                <a:ea typeface="Segoe UI" pitchFamily="34" charset="-122"/>
                <a:cs typeface="Segoe UI" pitchFamily="34" charset="-120"/>
              </a:rPr>
              <a:t>AI-powered analysis</a:t>
            </a:r>
            <a:endParaRPr lang="en-US" sz="1500" dirty="0"/>
          </a:p>
        </p:txBody>
      </p:sp>
      <p:sp>
        <p:nvSpPr>
          <p:cNvPr id="10" name="Text 8"/>
          <p:cNvSpPr/>
          <p:nvPr/>
        </p:nvSpPr>
        <p:spPr>
          <a:xfrm>
            <a:off x="3429000" y="2103120"/>
            <a:ext cx="2295144"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74151"/>
                </a:solidFill>
                <a:latin typeface="Segoe UI" pitchFamily="34" charset="0"/>
                <a:ea typeface="Segoe UI" pitchFamily="34" charset="-122"/>
                <a:cs typeface="Segoe UI" pitchFamily="34" charset="-120"/>
              </a:rPr>
              <a:t>Person detection</a:t>
            </a:r>
            <a:endParaRPr lang="en-US" sz="1200" dirty="0"/>
          </a:p>
          <a:p>
            <a:pPr marL="342900" indent="-342900">
              <a:spcAft>
                <a:spcPts val="600"/>
              </a:spcAft>
              <a:buSzPct val="100000"/>
              <a:buChar char="•"/>
            </a:pPr>
            <a:r>
              <a:rPr lang="en-US" sz="1200" dirty="0">
                <a:solidFill>
                  <a:srgbClr val="374151"/>
                </a:solidFill>
                <a:latin typeface="Segoe UI" pitchFamily="34" charset="0"/>
                <a:ea typeface="Segoe UI" pitchFamily="34" charset="-122"/>
                <a:cs typeface="Segoe UI" pitchFamily="34" charset="-120"/>
              </a:rPr>
              <a:t>Car, truck, bus, bicycle and motorcycle detection</a:t>
            </a:r>
            <a:endParaRPr lang="en-US" sz="1200" dirty="0"/>
          </a:p>
          <a:p>
            <a:pPr marL="342900" indent="-342900">
              <a:spcAft>
                <a:spcPts val="600"/>
              </a:spcAft>
              <a:buSzPct val="100000"/>
              <a:buChar char="•"/>
            </a:pPr>
            <a:r>
              <a:rPr lang="en-US" sz="1200" dirty="0">
                <a:solidFill>
                  <a:srgbClr val="374151"/>
                </a:solidFill>
                <a:latin typeface="Segoe UI" pitchFamily="34" charset="0"/>
                <a:ea typeface="Segoe UI" pitchFamily="34" charset="-122"/>
                <a:cs typeface="Segoe UI" pitchFamily="34" charset="-120"/>
              </a:rPr>
              <a:t>Timestamped thumbnails</a:t>
            </a:r>
            <a:endParaRPr lang="en-US" sz="1200" dirty="0"/>
          </a:p>
          <a:p>
            <a:pPr marL="342900" indent="-342900">
              <a:spcAft>
                <a:spcPts val="600"/>
              </a:spcAft>
              <a:buSzPct val="100000"/>
              <a:buChar char="•"/>
            </a:pPr>
            <a:r>
              <a:rPr lang="en-US" sz="1200" dirty="0">
                <a:solidFill>
                  <a:srgbClr val="374151"/>
                </a:solidFill>
                <a:latin typeface="Segoe UI" pitchFamily="34" charset="0"/>
                <a:ea typeface="Segoe UI" pitchFamily="34" charset="-122"/>
                <a:cs typeface="Segoe UI" pitchFamily="34" charset="-120"/>
              </a:rPr>
              <a:t>Confidence scoring</a:t>
            </a:r>
            <a:endParaRPr lang="en-US" sz="1200" dirty="0"/>
          </a:p>
        </p:txBody>
      </p:sp>
      <p:sp>
        <p:nvSpPr>
          <p:cNvPr id="11" name="capability card">
            <a:extLst>
              <a:ext uri="{C183D7F6-B498-43B3-948B-1728B52AA6E4}">
                <adec:decorative xmlns:adec="http://schemas.microsoft.com/office/drawing/2017/decorative" val="1"/>
              </a:ext>
            </a:extLst>
          </p:cNvPr>
          <p:cNvSpPr/>
          <p:nvPr/>
        </p:nvSpPr>
        <p:spPr>
          <a:xfrm>
            <a:off x="5980176" y="1371600"/>
            <a:ext cx="2624328" cy="3246120"/>
          </a:xfrm>
          <a:prstGeom prst="rect">
            <a:avLst/>
          </a:prstGeom>
          <a:solidFill>
            <a:srgbClr val="FFFFFF"/>
          </a:solidFill>
          <a:ln w="12700">
            <a:solidFill>
              <a:srgbClr val="E5E7EB"/>
            </a:solidFill>
            <a:prstDash val="solid"/>
          </a:ln>
        </p:spPr>
        <p:txBody>
          <a:bodyPr/>
          <a:lstStyle/>
          <a:p>
            <a:endParaRPr lang="en-US"/>
          </a:p>
        </p:txBody>
      </p:sp>
      <p:sp>
        <p:nvSpPr>
          <p:cNvPr id="12" name="card accent">
            <a:extLst>
              <a:ext uri="{C183D7F6-B498-43B3-948B-1728B52AA6E4}">
                <adec:decorative xmlns:adec="http://schemas.microsoft.com/office/drawing/2017/decorative" val="1"/>
              </a:ext>
            </a:extLst>
          </p:cNvPr>
          <p:cNvSpPr/>
          <p:nvPr/>
        </p:nvSpPr>
        <p:spPr>
          <a:xfrm>
            <a:off x="5980176" y="1371600"/>
            <a:ext cx="2624328" cy="45720"/>
          </a:xfrm>
          <a:prstGeom prst="rect">
            <a:avLst/>
          </a:prstGeom>
          <a:solidFill>
            <a:srgbClr val="1D4ED8"/>
          </a:solidFill>
          <a:ln/>
        </p:spPr>
        <p:txBody>
          <a:bodyPr/>
          <a:lstStyle/>
          <a:p>
            <a:endParaRPr lang="en-US"/>
          </a:p>
        </p:txBody>
      </p:sp>
      <p:sp>
        <p:nvSpPr>
          <p:cNvPr id="13" name="Text 11"/>
          <p:cNvSpPr/>
          <p:nvPr/>
        </p:nvSpPr>
        <p:spPr>
          <a:xfrm>
            <a:off x="6144768" y="1554480"/>
            <a:ext cx="2295144" cy="502920"/>
          </a:xfrm>
          <a:prstGeom prst="rect">
            <a:avLst/>
          </a:prstGeom>
          <a:noFill/>
          <a:ln/>
        </p:spPr>
        <p:txBody>
          <a:bodyPr wrap="square" lIns="0" tIns="0" rIns="0" bIns="0" rtlCol="0" anchor="t"/>
          <a:lstStyle/>
          <a:p>
            <a:pPr marL="0" indent="0">
              <a:buNone/>
            </a:pPr>
            <a:r>
              <a:rPr lang="en-US" sz="1500" b="1" dirty="0">
                <a:solidFill>
                  <a:srgbClr val="1F2937"/>
                </a:solidFill>
                <a:latin typeface="Segoe UI" pitchFamily="34" charset="0"/>
                <a:ea typeface="Segoe UI" pitchFamily="34" charset="-122"/>
                <a:cs typeface="Segoe UI" pitchFamily="34" charset="-120"/>
              </a:rPr>
              <a:t>Presentation-ready engineering</a:t>
            </a:r>
            <a:endParaRPr lang="en-US" sz="1500" dirty="0"/>
          </a:p>
        </p:txBody>
      </p:sp>
      <p:sp>
        <p:nvSpPr>
          <p:cNvPr id="14" name="Text 12"/>
          <p:cNvSpPr/>
          <p:nvPr/>
        </p:nvSpPr>
        <p:spPr>
          <a:xfrm>
            <a:off x="6144768" y="2103120"/>
            <a:ext cx="2295144"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74151"/>
                </a:solidFill>
                <a:latin typeface="Segoe UI" pitchFamily="34" charset="0"/>
                <a:ea typeface="Segoe UI" pitchFamily="34" charset="-122"/>
                <a:cs typeface="Segoe UI" pitchFamily="34" charset="-120"/>
              </a:rPr>
              <a:t>Windows, macOS and Linux setup</a:t>
            </a:r>
            <a:endParaRPr lang="en-US" sz="1200" dirty="0"/>
          </a:p>
          <a:p>
            <a:pPr marL="342900" indent="-342900">
              <a:spcAft>
                <a:spcPts val="600"/>
              </a:spcAft>
              <a:buSzPct val="100000"/>
              <a:buChar char="•"/>
            </a:pPr>
            <a:r>
              <a:rPr lang="en-US" sz="1200" dirty="0">
                <a:solidFill>
                  <a:srgbClr val="374151"/>
                </a:solidFill>
                <a:latin typeface="Segoe UI" pitchFamily="34" charset="0"/>
                <a:ea typeface="Segoe UI" pitchFamily="34" charset="-122"/>
                <a:cs typeface="Segoe UI" pitchFamily="34" charset="-120"/>
              </a:rPr>
              <a:t>Docker deployment</a:t>
            </a:r>
            <a:endParaRPr lang="en-US" sz="1200" dirty="0"/>
          </a:p>
          <a:p>
            <a:pPr marL="342900" indent="-342900">
              <a:spcAft>
                <a:spcPts val="600"/>
              </a:spcAft>
              <a:buSzPct val="100000"/>
              <a:buChar char="•"/>
            </a:pPr>
            <a:r>
              <a:rPr lang="en-US" sz="1200" dirty="0">
                <a:solidFill>
                  <a:srgbClr val="374151"/>
                </a:solidFill>
                <a:latin typeface="Segoe UI" pitchFamily="34" charset="0"/>
                <a:ea typeface="Segoe UI" pitchFamily="34" charset="-122"/>
                <a:cs typeface="Segoe UI" pitchFamily="34" charset="-120"/>
              </a:rPr>
              <a:t>Installable Python package</a:t>
            </a:r>
            <a:endParaRPr lang="en-US" sz="1200" dirty="0"/>
          </a:p>
          <a:p>
            <a:pPr marL="342900" indent="-342900">
              <a:spcAft>
                <a:spcPts val="600"/>
              </a:spcAft>
              <a:buSzPct val="100000"/>
              <a:buChar char="•"/>
            </a:pPr>
            <a:r>
              <a:rPr lang="en-US" sz="1200" dirty="0">
                <a:solidFill>
                  <a:srgbClr val="374151"/>
                </a:solidFill>
                <a:latin typeface="Segoe UI" pitchFamily="34" charset="0"/>
                <a:ea typeface="Segoe UI" pitchFamily="34" charset="-122"/>
                <a:cs typeface="Segoe UI" pitchFamily="34" charset="-120"/>
              </a:rPr>
              <a:t>Automated tests and code-quality checks</a:t>
            </a:r>
            <a:endParaRPr lang="en-US" sz="1200" dirty="0"/>
          </a:p>
          <a:p>
            <a:pPr marL="342900" indent="-342900">
              <a:spcAft>
                <a:spcPts val="600"/>
              </a:spcAft>
              <a:buSzPct val="100000"/>
              <a:buChar char="•"/>
            </a:pPr>
            <a:r>
              <a:rPr lang="en-US" sz="1200" dirty="0">
                <a:solidFill>
                  <a:srgbClr val="374151"/>
                </a:solidFill>
                <a:latin typeface="Segoe UI" pitchFamily="34" charset="0"/>
                <a:ea typeface="Segoe UI" pitchFamily="34" charset="-122"/>
                <a:cs typeface="Segoe UI" pitchFamily="34" charset="-120"/>
              </a:rPr>
              <a:t>Offline operation after model setup</a:t>
            </a:r>
            <a:endParaRPr lang="en-US" sz="1200" dirty="0"/>
          </a:p>
        </p:txBody>
      </p:sp>
      <p:sp>
        <p:nvSpPr>
          <p:cNvPr id="15" name="Text 13"/>
          <p:cNvSpPr/>
          <p:nvPr/>
        </p:nvSpPr>
        <p:spPr>
          <a:xfrm>
            <a:off x="548640" y="4709160"/>
            <a:ext cx="8046720" cy="301752"/>
          </a:xfrm>
          <a:prstGeom prst="rect">
            <a:avLst/>
          </a:prstGeom>
          <a:noFill/>
          <a:ln/>
        </p:spPr>
        <p:txBody>
          <a:bodyPr wrap="square" lIns="0" tIns="0" rIns="0" bIns="0" rtlCol="0" anchor="ctr"/>
          <a:lstStyle/>
          <a:p>
            <a:pPr marL="0" indent="0">
              <a:buNone/>
            </a:pPr>
            <a:r>
              <a:rPr lang="en-US" sz="1200" dirty="0">
                <a:solidFill>
                  <a:srgbClr val="6B7280"/>
                </a:solidFill>
                <a:latin typeface="Segoe UI" pitchFamily="34" charset="0"/>
                <a:ea typeface="Segoe UI" pitchFamily="34" charset="-122"/>
                <a:cs typeface="Segoe UI" pitchFamily="34" charset="-120"/>
              </a:rPr>
              <a:t>End-to-end today: upload → detect → search → review, entirely on the local machine.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8046720" cy="822960"/>
          </a:xfrm>
          <a:prstGeom prst="rect">
            <a:avLst/>
          </a:prstGeom>
          <a:noFill/>
          <a:ln/>
        </p:spPr>
        <p:txBody>
          <a:bodyPr wrap="square" lIns="0" tIns="0" rIns="0" bIns="0" rtlCol="0" anchor="t"/>
          <a:lstStyle/>
          <a:p>
            <a:pPr marL="0" indent="0" algn="l">
              <a:buNone/>
            </a:pPr>
            <a:r>
              <a:rPr lang="en-US" sz="2800" b="1" dirty="0">
                <a:solidFill>
                  <a:srgbClr val="1F2937"/>
                </a:solidFill>
                <a:latin typeface="Segoe UI" pitchFamily="34" charset="0"/>
                <a:ea typeface="Segoe UI" pitchFamily="34" charset="-122"/>
                <a:cs typeface="Segoe UI" pitchFamily="34" charset="-120"/>
              </a:rPr>
              <a:t>Start focused, then expand toward incident intelligence</a:t>
            </a:r>
            <a:endParaRPr lang="en-US" sz="2800" dirty="0"/>
          </a:p>
        </p:txBody>
      </p:sp>
      <p:sp>
        <p:nvSpPr>
          <p:cNvPr id="3" name="now panel">
            <a:extLst>
              <a:ext uri="{C183D7F6-B498-43B3-948B-1728B52AA6E4}">
                <adec:decorative xmlns:adec="http://schemas.microsoft.com/office/drawing/2017/decorative" val="1"/>
              </a:ext>
            </a:extLst>
          </p:cNvPr>
          <p:cNvSpPr/>
          <p:nvPr/>
        </p:nvSpPr>
        <p:spPr>
          <a:xfrm>
            <a:off x="548640" y="1371600"/>
            <a:ext cx="3931920" cy="2377440"/>
          </a:xfrm>
          <a:prstGeom prst="rect">
            <a:avLst/>
          </a:prstGeom>
          <a:solidFill>
            <a:srgbClr val="F3F4F6"/>
          </a:solidFill>
          <a:ln/>
        </p:spPr>
        <p:txBody>
          <a:bodyPr/>
          <a:lstStyle/>
          <a:p>
            <a:endParaRPr lang="en-US"/>
          </a:p>
        </p:txBody>
      </p:sp>
      <p:sp>
        <p:nvSpPr>
          <p:cNvPr id="4" name="Text 2"/>
          <p:cNvSpPr/>
          <p:nvPr/>
        </p:nvSpPr>
        <p:spPr>
          <a:xfrm>
            <a:off x="731520" y="1508760"/>
            <a:ext cx="1828800" cy="320040"/>
          </a:xfrm>
          <a:prstGeom prst="rect">
            <a:avLst/>
          </a:prstGeom>
          <a:noFill/>
          <a:ln/>
        </p:spPr>
        <p:txBody>
          <a:bodyPr wrap="square" lIns="0" tIns="0" rIns="0" bIns="0" rtlCol="0" anchor="ctr"/>
          <a:lstStyle/>
          <a:p>
            <a:pPr marL="0" indent="0">
              <a:buNone/>
            </a:pPr>
            <a:r>
              <a:rPr lang="en-US" sz="1300" b="1" kern="0" spc="300" dirty="0">
                <a:solidFill>
                  <a:srgbClr val="1D4ED8"/>
                </a:solidFill>
                <a:latin typeface="Segoe UI" pitchFamily="34" charset="0"/>
                <a:ea typeface="Segoe UI" pitchFamily="34" charset="-122"/>
                <a:cs typeface="Segoe UI" pitchFamily="34" charset="-120"/>
              </a:rPr>
              <a:t>NOW</a:t>
            </a:r>
            <a:endParaRPr lang="en-US" sz="1300" dirty="0"/>
          </a:p>
        </p:txBody>
      </p:sp>
      <p:sp>
        <p:nvSpPr>
          <p:cNvPr id="5" name="Text 3"/>
          <p:cNvSpPr/>
          <p:nvPr/>
        </p:nvSpPr>
        <p:spPr>
          <a:xfrm>
            <a:off x="731520" y="1920240"/>
            <a:ext cx="3566160" cy="16916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7"/>
                </a:solidFill>
                <a:latin typeface="Segoe UI" pitchFamily="34" charset="0"/>
                <a:ea typeface="Segoe UI" pitchFamily="34" charset="-122"/>
                <a:cs typeface="Segoe UI" pitchFamily="34" charset="-120"/>
              </a:rPr>
              <a:t>Detect people and vehicles</a:t>
            </a:r>
            <a:endParaRPr lang="en-US" sz="1300" dirty="0"/>
          </a:p>
          <a:p>
            <a:pPr marL="342900" indent="-342900">
              <a:spcAft>
                <a:spcPts val="600"/>
              </a:spcAft>
              <a:buSzPct val="100000"/>
              <a:buChar char="•"/>
            </a:pPr>
            <a:r>
              <a:rPr lang="en-US" sz="1300" dirty="0">
                <a:solidFill>
                  <a:srgbClr val="1F2937"/>
                </a:solidFill>
                <a:latin typeface="Segoe UI" pitchFamily="34" charset="0"/>
                <a:ea typeface="Segoe UI" pitchFamily="34" charset="-122"/>
                <a:cs typeface="Segoe UI" pitchFamily="34" charset="-120"/>
              </a:rPr>
              <a:t>Search recorded footage</a:t>
            </a:r>
            <a:endParaRPr lang="en-US" sz="1300" dirty="0"/>
          </a:p>
          <a:p>
            <a:pPr marL="342900" indent="-342900">
              <a:spcAft>
                <a:spcPts val="600"/>
              </a:spcAft>
              <a:buSzPct val="100000"/>
              <a:buChar char="•"/>
            </a:pPr>
            <a:r>
              <a:rPr lang="en-US" sz="1300" dirty="0">
                <a:solidFill>
                  <a:srgbClr val="1F2937"/>
                </a:solidFill>
                <a:latin typeface="Segoe UI" pitchFamily="34" charset="0"/>
                <a:ea typeface="Segoe UI" pitchFamily="34" charset="-122"/>
                <a:cs typeface="Segoe UI" pitchFamily="34" charset="-120"/>
              </a:rPr>
              <a:t>Review timestamps and thumbnails</a:t>
            </a:r>
            <a:endParaRPr lang="en-US" sz="1300" dirty="0"/>
          </a:p>
          <a:p>
            <a:pPr marL="342900" indent="-342900">
              <a:spcAft>
                <a:spcPts val="600"/>
              </a:spcAft>
              <a:buSzPct val="100000"/>
              <a:buChar char="•"/>
            </a:pPr>
            <a:r>
              <a:rPr lang="en-US" sz="1300" dirty="0">
                <a:solidFill>
                  <a:srgbClr val="1F2937"/>
                </a:solidFill>
                <a:latin typeface="Segoe UI" pitchFamily="34" charset="0"/>
                <a:ea typeface="Segoe UI" pitchFamily="34" charset="-122"/>
                <a:cs typeface="Segoe UI" pitchFamily="34" charset="-120"/>
              </a:rPr>
              <a:t>Keep processing local</a:t>
            </a:r>
            <a:endParaRPr lang="en-US" sz="1300" dirty="0"/>
          </a:p>
        </p:txBody>
      </p:sp>
      <p:sp>
        <p:nvSpPr>
          <p:cNvPr id="6" name="next panel">
            <a:extLst>
              <a:ext uri="{C183D7F6-B498-43B3-948B-1728B52AA6E4}">
                <adec:decorative xmlns:adec="http://schemas.microsoft.com/office/drawing/2017/decorative" val="1"/>
              </a:ext>
            </a:extLst>
          </p:cNvPr>
          <p:cNvSpPr/>
          <p:nvPr/>
        </p:nvSpPr>
        <p:spPr>
          <a:xfrm>
            <a:off x="4663440" y="1371600"/>
            <a:ext cx="3931920" cy="2377440"/>
          </a:xfrm>
          <a:prstGeom prst="rect">
            <a:avLst/>
          </a:prstGeom>
          <a:solidFill>
            <a:srgbClr val="FFFFFF"/>
          </a:solidFill>
          <a:ln w="12700">
            <a:solidFill>
              <a:srgbClr val="E5E7EB"/>
            </a:solidFill>
            <a:prstDash val="solid"/>
          </a:ln>
        </p:spPr>
        <p:txBody>
          <a:bodyPr/>
          <a:lstStyle/>
          <a:p>
            <a:endParaRPr lang="en-US"/>
          </a:p>
        </p:txBody>
      </p:sp>
      <p:sp>
        <p:nvSpPr>
          <p:cNvPr id="7" name="Text 5"/>
          <p:cNvSpPr/>
          <p:nvPr/>
        </p:nvSpPr>
        <p:spPr>
          <a:xfrm>
            <a:off x="4846320" y="1508760"/>
            <a:ext cx="1828800" cy="320040"/>
          </a:xfrm>
          <a:prstGeom prst="rect">
            <a:avLst/>
          </a:prstGeom>
          <a:noFill/>
          <a:ln/>
        </p:spPr>
        <p:txBody>
          <a:bodyPr wrap="square" lIns="0" tIns="0" rIns="0" bIns="0" rtlCol="0" anchor="ctr"/>
          <a:lstStyle/>
          <a:p>
            <a:pPr marL="0" indent="0">
              <a:buNone/>
            </a:pPr>
            <a:r>
              <a:rPr lang="en-US" sz="1300" b="1" kern="0" spc="300" dirty="0">
                <a:solidFill>
                  <a:srgbClr val="1F2937"/>
                </a:solidFill>
                <a:latin typeface="Segoe UI" pitchFamily="34" charset="0"/>
                <a:ea typeface="Segoe UI" pitchFamily="34" charset="-122"/>
                <a:cs typeface="Segoe UI" pitchFamily="34" charset="-120"/>
              </a:rPr>
              <a:t>NEXT</a:t>
            </a:r>
            <a:endParaRPr lang="en-US" sz="1300" dirty="0"/>
          </a:p>
        </p:txBody>
      </p:sp>
      <p:sp>
        <p:nvSpPr>
          <p:cNvPr id="8" name="Text 6"/>
          <p:cNvSpPr/>
          <p:nvPr/>
        </p:nvSpPr>
        <p:spPr>
          <a:xfrm>
            <a:off x="4846320" y="1920240"/>
            <a:ext cx="3566160" cy="173736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374151"/>
                </a:solidFill>
                <a:latin typeface="Segoe UI" pitchFamily="34" charset="0"/>
                <a:ea typeface="Segoe UI" pitchFamily="34" charset="-122"/>
                <a:cs typeface="Segoe UI" pitchFamily="34" charset="-120"/>
              </a:rPr>
              <a:t>Group repeated detections into events</a:t>
            </a:r>
            <a:endParaRPr lang="en-US" sz="1200" dirty="0"/>
          </a:p>
          <a:p>
            <a:pPr marL="342900" indent="-342900">
              <a:spcAft>
                <a:spcPts val="300"/>
              </a:spcAft>
              <a:buSzPct val="100000"/>
              <a:buChar char="•"/>
            </a:pPr>
            <a:r>
              <a:rPr lang="en-US" sz="1200" dirty="0">
                <a:solidFill>
                  <a:srgbClr val="374151"/>
                </a:solidFill>
                <a:latin typeface="Segoe UI" pitchFamily="34" charset="0"/>
                <a:ea typeface="Segoe UI" pitchFamily="34" charset="-122"/>
                <a:cs typeface="Segoe UI" pitchFamily="34" charset="-120"/>
              </a:rPr>
              <a:t>Semantic questions: “Who approached the car?”</a:t>
            </a:r>
            <a:endParaRPr lang="en-US" sz="1200" dirty="0"/>
          </a:p>
          <a:p>
            <a:pPr marL="342900" indent="-342900">
              <a:spcAft>
                <a:spcPts val="300"/>
              </a:spcAft>
              <a:buSzPct val="100000"/>
              <a:buChar char="•"/>
            </a:pPr>
            <a:r>
              <a:rPr lang="en-US" sz="1200" dirty="0">
                <a:solidFill>
                  <a:srgbClr val="374151"/>
                </a:solidFill>
                <a:latin typeface="Segoe UI" pitchFamily="34" charset="0"/>
                <a:ea typeface="Segoe UI" pitchFamily="34" charset="-122"/>
                <a:cs typeface="Segoe UI" pitchFamily="34" charset="-120"/>
              </a:rPr>
              <a:t>Improve proximity and movement analysis</a:t>
            </a:r>
            <a:endParaRPr lang="en-US" sz="1200" dirty="0"/>
          </a:p>
          <a:p>
            <a:pPr marL="342900" indent="-342900">
              <a:spcAft>
                <a:spcPts val="300"/>
              </a:spcAft>
              <a:buSzPct val="100000"/>
              <a:buChar char="•"/>
            </a:pPr>
            <a:r>
              <a:rPr lang="en-US" sz="1200" dirty="0">
                <a:solidFill>
                  <a:srgbClr val="374151"/>
                </a:solidFill>
                <a:latin typeface="Segoe UI" pitchFamily="34" charset="0"/>
                <a:ea typeface="Segoe UI" pitchFamily="34" charset="-122"/>
                <a:cs typeface="Segoe UI" pitchFamily="34" charset="-120"/>
              </a:rPr>
              <a:t>Number-plate and face redaction</a:t>
            </a:r>
            <a:endParaRPr lang="en-US" sz="1200" dirty="0"/>
          </a:p>
          <a:p>
            <a:pPr marL="342900" indent="-342900">
              <a:spcAft>
                <a:spcPts val="300"/>
              </a:spcAft>
              <a:buSzPct val="100000"/>
              <a:buChar char="•"/>
            </a:pPr>
            <a:r>
              <a:rPr lang="en-US" sz="1200" dirty="0">
                <a:solidFill>
                  <a:srgbClr val="374151"/>
                </a:solidFill>
                <a:latin typeface="Segoe UI" pitchFamily="34" charset="0"/>
                <a:ea typeface="Segoe UI" pitchFamily="34" charset="-122"/>
                <a:cs typeface="Segoe UI" pitchFamily="34" charset="-120"/>
              </a:rPr>
              <a:t>Structured incident summaries</a:t>
            </a:r>
            <a:endParaRPr lang="en-US" sz="1200" dirty="0"/>
          </a:p>
          <a:p>
            <a:pPr marL="342900" indent="-342900">
              <a:spcAft>
                <a:spcPts val="300"/>
              </a:spcAft>
              <a:buSzPct val="100000"/>
              <a:buChar char="•"/>
            </a:pPr>
            <a:r>
              <a:rPr lang="en-US" sz="1200" dirty="0">
                <a:solidFill>
                  <a:srgbClr val="374151"/>
                </a:solidFill>
                <a:latin typeface="Segoe UI" pitchFamily="34" charset="0"/>
                <a:ea typeface="Segoe UI" pitchFamily="34" charset="-122"/>
                <a:cs typeface="Segoe UI" pitchFamily="34" charset="-120"/>
              </a:rPr>
              <a:t>Evaluate optional Azure processing at scale</a:t>
            </a:r>
            <a:endParaRPr lang="en-US" sz="1200" dirty="0"/>
          </a:p>
        </p:txBody>
      </p:sp>
      <p:sp>
        <p:nvSpPr>
          <p:cNvPr id="9" name="call to action band">
            <a:extLst>
              <a:ext uri="{C183D7F6-B498-43B3-948B-1728B52AA6E4}">
                <adec:decorative xmlns:adec="http://schemas.microsoft.com/office/drawing/2017/decorative" val="1"/>
              </a:ext>
            </a:extLst>
          </p:cNvPr>
          <p:cNvSpPr/>
          <p:nvPr/>
        </p:nvSpPr>
        <p:spPr>
          <a:xfrm>
            <a:off x="548640" y="3931920"/>
            <a:ext cx="8046720" cy="868680"/>
          </a:xfrm>
          <a:prstGeom prst="rect">
            <a:avLst/>
          </a:prstGeom>
          <a:solidFill>
            <a:srgbClr val="1F2937"/>
          </a:solidFill>
          <a:ln/>
        </p:spPr>
        <p:txBody>
          <a:bodyPr/>
          <a:lstStyle/>
          <a:p>
            <a:endParaRPr lang="en-US"/>
          </a:p>
        </p:txBody>
      </p:sp>
      <p:sp>
        <p:nvSpPr>
          <p:cNvPr id="10" name="Text 8"/>
          <p:cNvSpPr/>
          <p:nvPr/>
        </p:nvSpPr>
        <p:spPr>
          <a:xfrm>
            <a:off x="777240" y="4023360"/>
            <a:ext cx="7589520" cy="292608"/>
          </a:xfrm>
          <a:prstGeom prst="rect">
            <a:avLst/>
          </a:prstGeom>
          <a:noFill/>
          <a:ln/>
        </p:spPr>
        <p:txBody>
          <a:bodyPr wrap="square" lIns="0" tIns="0" rIns="0" bIns="0" rtlCol="0" anchor="ctr"/>
          <a:lstStyle/>
          <a:p>
            <a:pPr marL="0" indent="0">
              <a:buNone/>
            </a:pPr>
            <a:r>
              <a:rPr lang="en-US" sz="1200" i="1" dirty="0">
                <a:solidFill>
                  <a:srgbClr val="D1D5DB"/>
                </a:solidFill>
                <a:latin typeface="Segoe UI" pitchFamily="34" charset="0"/>
                <a:ea typeface="Segoe UI" pitchFamily="34" charset="-122"/>
                <a:cs typeface="Segoe UI" pitchFamily="34" charset="-120"/>
              </a:rPr>
              <a:t>RoadLens does not replace human judgement — it helps users reach the right evidence faster.</a:t>
            </a:r>
            <a:endParaRPr lang="en-US" sz="1200" dirty="0"/>
          </a:p>
        </p:txBody>
      </p:sp>
      <p:sp>
        <p:nvSpPr>
          <p:cNvPr id="11" name="Text 9"/>
          <p:cNvSpPr/>
          <p:nvPr/>
        </p:nvSpPr>
        <p:spPr>
          <a:xfrm>
            <a:off x="777240" y="4343400"/>
            <a:ext cx="7589520" cy="347472"/>
          </a:xfrm>
          <a:prstGeom prst="rect">
            <a:avLst/>
          </a:prstGeom>
          <a:noFill/>
          <a:ln/>
        </p:spPr>
        <p:txBody>
          <a:bodyPr wrap="square" lIns="0" tIns="0" rIns="0" bIns="0"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Test the MVP with approved footage, measure search accuracy and select the next high-value scenario.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8046720" cy="822960"/>
          </a:xfrm>
          <a:prstGeom prst="rect">
            <a:avLst/>
          </a:prstGeom>
          <a:noFill/>
          <a:ln/>
        </p:spPr>
        <p:txBody>
          <a:bodyPr wrap="square" lIns="0" tIns="0" rIns="0" bIns="0" rtlCol="0" anchor="t"/>
          <a:lstStyle/>
          <a:p>
            <a:pPr marL="0" indent="0" algn="l">
              <a:buNone/>
            </a:pPr>
            <a:r>
              <a:rPr lang="en-US" sz="2800" b="1" dirty="0">
                <a:solidFill>
                  <a:srgbClr val="1F2937"/>
                </a:solidFill>
                <a:latin typeface="Segoe UI" pitchFamily="34" charset="0"/>
                <a:ea typeface="Segoe UI" pitchFamily="34" charset="-122"/>
                <a:cs typeface="Segoe UI" pitchFamily="34" charset="-120"/>
              </a:rPr>
              <a:t>Thank you — let's find the moment that matters</a:t>
            </a:r>
            <a:endParaRPr lang="en-US" sz="2800" dirty="0"/>
          </a:p>
        </p:txBody>
      </p:sp>
      <p:sp>
        <p:nvSpPr>
          <p:cNvPr id="3" name="Text 1"/>
          <p:cNvSpPr/>
          <p:nvPr/>
        </p:nvSpPr>
        <p:spPr>
          <a:xfrm>
            <a:off x="548640" y="1371600"/>
            <a:ext cx="8046720" cy="365760"/>
          </a:xfrm>
          <a:prstGeom prst="rect">
            <a:avLst/>
          </a:prstGeom>
          <a:noFill/>
          <a:ln/>
        </p:spPr>
        <p:txBody>
          <a:bodyPr wrap="square" lIns="0" tIns="0" rIns="0" bIns="0" rtlCol="0" anchor="ctr"/>
          <a:lstStyle/>
          <a:p>
            <a:pPr marL="0" indent="0">
              <a:buNone/>
            </a:pPr>
            <a:r>
              <a:rPr lang="en-US" sz="1500" dirty="0">
                <a:solidFill>
                  <a:srgbClr val="1D4ED8"/>
                </a:solidFill>
                <a:latin typeface="Segoe UI" pitchFamily="34" charset="0"/>
                <a:ea typeface="Segoe UI" pitchFamily="34" charset="-122"/>
                <a:cs typeface="Segoe UI" pitchFamily="34" charset="-120"/>
              </a:rPr>
              <a:t>RoadLens turns dashcam footage into searchable, timestamped evidence — privately, on your own machine.</a:t>
            </a:r>
            <a:endParaRPr lang="en-US" sz="1500" dirty="0"/>
          </a:p>
        </p:txBody>
      </p:sp>
      <p:sp>
        <p:nvSpPr>
          <p:cNvPr id="4" name="takeaway card">
            <a:extLst>
              <a:ext uri="{C183D7F6-B498-43B3-948B-1728B52AA6E4}">
                <adec:decorative xmlns:adec="http://schemas.microsoft.com/office/drawing/2017/decorative" val="1"/>
              </a:ext>
            </a:extLst>
          </p:cNvPr>
          <p:cNvSpPr/>
          <p:nvPr/>
        </p:nvSpPr>
        <p:spPr>
          <a:xfrm>
            <a:off x="548640" y="1874520"/>
            <a:ext cx="2624328" cy="1371600"/>
          </a:xfrm>
          <a:prstGeom prst="rect">
            <a:avLst/>
          </a:prstGeom>
          <a:solidFill>
            <a:srgbClr val="F3F4F6"/>
          </a:solidFill>
          <a:ln/>
        </p:spPr>
        <p:txBody>
          <a:bodyPr/>
          <a:lstStyle/>
          <a:p>
            <a:endParaRPr lang="en-US"/>
          </a:p>
        </p:txBody>
      </p:sp>
      <p:sp>
        <p:nvSpPr>
          <p:cNvPr id="5" name="takeaway accent">
            <a:extLst>
              <a:ext uri="{C183D7F6-B498-43B3-948B-1728B52AA6E4}">
                <adec:decorative xmlns:adec="http://schemas.microsoft.com/office/drawing/2017/decorative" val="1"/>
              </a:ext>
            </a:extLst>
          </p:cNvPr>
          <p:cNvSpPr/>
          <p:nvPr/>
        </p:nvSpPr>
        <p:spPr>
          <a:xfrm>
            <a:off x="548640" y="1874520"/>
            <a:ext cx="2624328" cy="45720"/>
          </a:xfrm>
          <a:prstGeom prst="rect">
            <a:avLst/>
          </a:prstGeom>
          <a:solidFill>
            <a:srgbClr val="1D4ED8"/>
          </a:solidFill>
          <a:ln/>
        </p:spPr>
        <p:txBody>
          <a:bodyPr/>
          <a:lstStyle/>
          <a:p>
            <a:endParaRPr lang="en-US"/>
          </a:p>
        </p:txBody>
      </p:sp>
      <p:sp>
        <p:nvSpPr>
          <p:cNvPr id="6" name="Text 4"/>
          <p:cNvSpPr/>
          <p:nvPr/>
        </p:nvSpPr>
        <p:spPr>
          <a:xfrm>
            <a:off x="713232" y="2048256"/>
            <a:ext cx="2295144" cy="320040"/>
          </a:xfrm>
          <a:prstGeom prst="rect">
            <a:avLst/>
          </a:prstGeom>
          <a:noFill/>
          <a:ln/>
        </p:spPr>
        <p:txBody>
          <a:bodyPr wrap="square" lIns="0" tIns="0" rIns="0" bIns="0" rtlCol="0" anchor="t"/>
          <a:lstStyle/>
          <a:p>
            <a:pPr marL="0" indent="0">
              <a:buNone/>
            </a:pPr>
            <a:r>
              <a:rPr lang="en-US" sz="1400" b="1" dirty="0">
                <a:solidFill>
                  <a:srgbClr val="1D4ED8"/>
                </a:solidFill>
                <a:latin typeface="Segoe UI" pitchFamily="34" charset="0"/>
                <a:ea typeface="Segoe UI" pitchFamily="34" charset="-122"/>
                <a:cs typeface="Segoe UI" pitchFamily="34" charset="-120"/>
              </a:rPr>
              <a:t>Searchable</a:t>
            </a:r>
            <a:endParaRPr lang="en-US" sz="1400" dirty="0"/>
          </a:p>
        </p:txBody>
      </p:sp>
      <p:sp>
        <p:nvSpPr>
          <p:cNvPr id="7" name="Text 5"/>
          <p:cNvSpPr/>
          <p:nvPr/>
        </p:nvSpPr>
        <p:spPr>
          <a:xfrm>
            <a:off x="713232" y="2395728"/>
            <a:ext cx="2295144" cy="731520"/>
          </a:xfrm>
          <a:prstGeom prst="rect">
            <a:avLst/>
          </a:prstGeom>
          <a:noFill/>
          <a:ln/>
        </p:spPr>
        <p:txBody>
          <a:bodyPr wrap="square" lIns="0" tIns="0" rIns="0" bIns="0" rtlCol="0" anchor="t"/>
          <a:lstStyle/>
          <a:p>
            <a:pPr marL="0" indent="0">
              <a:buNone/>
            </a:pPr>
            <a:r>
              <a:rPr lang="en-US" sz="1200" dirty="0">
                <a:solidFill>
                  <a:srgbClr val="1F2937"/>
                </a:solidFill>
                <a:latin typeface="Segoe UI" pitchFamily="34" charset="0"/>
                <a:ea typeface="Segoe UI" pitchFamily="34" charset="-122"/>
                <a:cs typeface="Segoe UI" pitchFamily="34" charset="-120"/>
              </a:rPr>
              <a:t>Plain-language search over detected people and vehicles</a:t>
            </a:r>
            <a:endParaRPr lang="en-US" sz="1200" dirty="0"/>
          </a:p>
        </p:txBody>
      </p:sp>
      <p:sp>
        <p:nvSpPr>
          <p:cNvPr id="8" name="takeaway card">
            <a:extLst>
              <a:ext uri="{C183D7F6-B498-43B3-948B-1728B52AA6E4}">
                <adec:decorative xmlns:adec="http://schemas.microsoft.com/office/drawing/2017/decorative" val="1"/>
              </a:ext>
            </a:extLst>
          </p:cNvPr>
          <p:cNvSpPr/>
          <p:nvPr/>
        </p:nvSpPr>
        <p:spPr>
          <a:xfrm>
            <a:off x="3264408" y="1874520"/>
            <a:ext cx="2624328" cy="1371600"/>
          </a:xfrm>
          <a:prstGeom prst="rect">
            <a:avLst/>
          </a:prstGeom>
          <a:solidFill>
            <a:srgbClr val="F3F4F6"/>
          </a:solidFill>
          <a:ln/>
        </p:spPr>
        <p:txBody>
          <a:bodyPr/>
          <a:lstStyle/>
          <a:p>
            <a:endParaRPr lang="en-US"/>
          </a:p>
        </p:txBody>
      </p:sp>
      <p:sp>
        <p:nvSpPr>
          <p:cNvPr id="9" name="takeaway accent">
            <a:extLst>
              <a:ext uri="{C183D7F6-B498-43B3-948B-1728B52AA6E4}">
                <adec:decorative xmlns:adec="http://schemas.microsoft.com/office/drawing/2017/decorative" val="1"/>
              </a:ext>
            </a:extLst>
          </p:cNvPr>
          <p:cNvSpPr/>
          <p:nvPr/>
        </p:nvSpPr>
        <p:spPr>
          <a:xfrm>
            <a:off x="3264408" y="1874520"/>
            <a:ext cx="2624328" cy="45720"/>
          </a:xfrm>
          <a:prstGeom prst="rect">
            <a:avLst/>
          </a:prstGeom>
          <a:solidFill>
            <a:srgbClr val="1D4ED8"/>
          </a:solidFill>
          <a:ln/>
        </p:spPr>
        <p:txBody>
          <a:bodyPr/>
          <a:lstStyle/>
          <a:p>
            <a:endParaRPr lang="en-US"/>
          </a:p>
        </p:txBody>
      </p:sp>
      <p:sp>
        <p:nvSpPr>
          <p:cNvPr id="10" name="Text 8"/>
          <p:cNvSpPr/>
          <p:nvPr/>
        </p:nvSpPr>
        <p:spPr>
          <a:xfrm>
            <a:off x="3429000" y="2048256"/>
            <a:ext cx="2295144" cy="320040"/>
          </a:xfrm>
          <a:prstGeom prst="rect">
            <a:avLst/>
          </a:prstGeom>
          <a:noFill/>
          <a:ln/>
        </p:spPr>
        <p:txBody>
          <a:bodyPr wrap="square" lIns="0" tIns="0" rIns="0" bIns="0" rtlCol="0" anchor="t"/>
          <a:lstStyle/>
          <a:p>
            <a:pPr marL="0" indent="0">
              <a:buNone/>
            </a:pPr>
            <a:r>
              <a:rPr lang="en-US" sz="1400" b="1" dirty="0">
                <a:solidFill>
                  <a:srgbClr val="1D4ED8"/>
                </a:solidFill>
                <a:latin typeface="Segoe UI" pitchFamily="34" charset="0"/>
                <a:ea typeface="Segoe UI" pitchFamily="34" charset="-122"/>
                <a:cs typeface="Segoe UI" pitchFamily="34" charset="-120"/>
              </a:rPr>
              <a:t>Private</a:t>
            </a:r>
            <a:endParaRPr lang="en-US" sz="1400" dirty="0"/>
          </a:p>
        </p:txBody>
      </p:sp>
      <p:sp>
        <p:nvSpPr>
          <p:cNvPr id="11" name="Text 9"/>
          <p:cNvSpPr/>
          <p:nvPr/>
        </p:nvSpPr>
        <p:spPr>
          <a:xfrm>
            <a:off x="3429000" y="2395728"/>
            <a:ext cx="2295144" cy="731520"/>
          </a:xfrm>
          <a:prstGeom prst="rect">
            <a:avLst/>
          </a:prstGeom>
          <a:noFill/>
          <a:ln/>
        </p:spPr>
        <p:txBody>
          <a:bodyPr wrap="square" lIns="0" tIns="0" rIns="0" bIns="0" rtlCol="0" anchor="t"/>
          <a:lstStyle/>
          <a:p>
            <a:pPr marL="0" indent="0">
              <a:buNone/>
            </a:pPr>
            <a:r>
              <a:rPr lang="en-US" sz="1200" dirty="0">
                <a:solidFill>
                  <a:srgbClr val="1F2937"/>
                </a:solidFill>
                <a:latin typeface="Segoe UI" pitchFamily="34" charset="0"/>
                <a:ea typeface="Segoe UI" pitchFamily="34" charset="-122"/>
                <a:cs typeface="Segoe UI" pitchFamily="34" charset="-120"/>
              </a:rPr>
              <a:t>Videos and results stay local and clear with one action</a:t>
            </a:r>
            <a:endParaRPr lang="en-US" sz="1200" dirty="0"/>
          </a:p>
        </p:txBody>
      </p:sp>
      <p:sp>
        <p:nvSpPr>
          <p:cNvPr id="12" name="takeaway card">
            <a:extLst>
              <a:ext uri="{C183D7F6-B498-43B3-948B-1728B52AA6E4}">
                <adec:decorative xmlns:adec="http://schemas.microsoft.com/office/drawing/2017/decorative" val="1"/>
              </a:ext>
            </a:extLst>
          </p:cNvPr>
          <p:cNvSpPr/>
          <p:nvPr/>
        </p:nvSpPr>
        <p:spPr>
          <a:xfrm>
            <a:off x="5980176" y="1874520"/>
            <a:ext cx="2624328" cy="1371600"/>
          </a:xfrm>
          <a:prstGeom prst="rect">
            <a:avLst/>
          </a:prstGeom>
          <a:solidFill>
            <a:srgbClr val="F3F4F6"/>
          </a:solidFill>
          <a:ln/>
        </p:spPr>
        <p:txBody>
          <a:bodyPr/>
          <a:lstStyle/>
          <a:p>
            <a:endParaRPr lang="en-US"/>
          </a:p>
        </p:txBody>
      </p:sp>
      <p:sp>
        <p:nvSpPr>
          <p:cNvPr id="13" name="takeaway accent">
            <a:extLst>
              <a:ext uri="{C183D7F6-B498-43B3-948B-1728B52AA6E4}">
                <adec:decorative xmlns:adec="http://schemas.microsoft.com/office/drawing/2017/decorative" val="1"/>
              </a:ext>
            </a:extLst>
          </p:cNvPr>
          <p:cNvSpPr/>
          <p:nvPr/>
        </p:nvSpPr>
        <p:spPr>
          <a:xfrm>
            <a:off x="5980176" y="1874520"/>
            <a:ext cx="2624328" cy="45720"/>
          </a:xfrm>
          <a:prstGeom prst="rect">
            <a:avLst/>
          </a:prstGeom>
          <a:solidFill>
            <a:srgbClr val="1D4ED8"/>
          </a:solidFill>
          <a:ln/>
        </p:spPr>
        <p:txBody>
          <a:bodyPr/>
          <a:lstStyle/>
          <a:p>
            <a:endParaRPr lang="en-US"/>
          </a:p>
        </p:txBody>
      </p:sp>
      <p:sp>
        <p:nvSpPr>
          <p:cNvPr id="14" name="Text 12"/>
          <p:cNvSpPr/>
          <p:nvPr/>
        </p:nvSpPr>
        <p:spPr>
          <a:xfrm>
            <a:off x="6144768" y="2048256"/>
            <a:ext cx="2295144" cy="320040"/>
          </a:xfrm>
          <a:prstGeom prst="rect">
            <a:avLst/>
          </a:prstGeom>
          <a:noFill/>
          <a:ln/>
        </p:spPr>
        <p:txBody>
          <a:bodyPr wrap="square" lIns="0" tIns="0" rIns="0" bIns="0" rtlCol="0" anchor="t"/>
          <a:lstStyle/>
          <a:p>
            <a:pPr marL="0" indent="0">
              <a:buNone/>
            </a:pPr>
            <a:r>
              <a:rPr lang="en-US" sz="1400" b="1" dirty="0">
                <a:solidFill>
                  <a:srgbClr val="1D4ED8"/>
                </a:solidFill>
                <a:latin typeface="Segoe UI" pitchFamily="34" charset="0"/>
                <a:ea typeface="Segoe UI" pitchFamily="34" charset="-122"/>
                <a:cs typeface="Segoe UI" pitchFamily="34" charset="-120"/>
              </a:rPr>
              <a:t>Ready to trial</a:t>
            </a:r>
            <a:endParaRPr lang="en-US" sz="1400" dirty="0"/>
          </a:p>
        </p:txBody>
      </p:sp>
      <p:sp>
        <p:nvSpPr>
          <p:cNvPr id="15" name="Text 13"/>
          <p:cNvSpPr/>
          <p:nvPr/>
        </p:nvSpPr>
        <p:spPr>
          <a:xfrm>
            <a:off x="6144768" y="2395728"/>
            <a:ext cx="2295144" cy="731520"/>
          </a:xfrm>
          <a:prstGeom prst="rect">
            <a:avLst/>
          </a:prstGeom>
          <a:noFill/>
          <a:ln/>
        </p:spPr>
        <p:txBody>
          <a:bodyPr wrap="square" lIns="0" tIns="0" rIns="0" bIns="0" rtlCol="0" anchor="t"/>
          <a:lstStyle/>
          <a:p>
            <a:pPr marL="0" indent="0">
              <a:buNone/>
            </a:pPr>
            <a:r>
              <a:rPr lang="en-US" sz="1200" dirty="0">
                <a:solidFill>
                  <a:srgbClr val="1F2937"/>
                </a:solidFill>
                <a:latin typeface="Segoe UI" pitchFamily="34" charset="0"/>
                <a:ea typeface="Segoe UI" pitchFamily="34" charset="-122"/>
                <a:cs typeface="Segoe UI" pitchFamily="34" charset="-120"/>
              </a:rPr>
              <a:t>Working MVP, reproducible setup, offline demo</a:t>
            </a:r>
            <a:endParaRPr lang="en-US" sz="1200" dirty="0"/>
          </a:p>
        </p:txBody>
      </p:sp>
      <p:sp>
        <p:nvSpPr>
          <p:cNvPr id="16" name="Text 14"/>
          <p:cNvSpPr/>
          <p:nvPr/>
        </p:nvSpPr>
        <p:spPr>
          <a:xfrm>
            <a:off x="548640" y="3474720"/>
            <a:ext cx="8046720" cy="320040"/>
          </a:xfrm>
          <a:prstGeom prst="rect">
            <a:avLst/>
          </a:prstGeom>
          <a:noFill/>
          <a:ln/>
        </p:spPr>
        <p:txBody>
          <a:bodyPr wrap="square" lIns="0" tIns="0" rIns="0" bIns="0" rtlCol="0" anchor="ctr"/>
          <a:lstStyle/>
          <a:p>
            <a:pPr marL="0" indent="0">
              <a:buNone/>
            </a:pPr>
            <a:r>
              <a:rPr lang="en-US" sz="1300" b="1" dirty="0">
                <a:solidFill>
                  <a:srgbClr val="1F2937"/>
                </a:solidFill>
                <a:latin typeface="Segoe UI" pitchFamily="34" charset="0"/>
                <a:ea typeface="Segoe UI" pitchFamily="34" charset="-122"/>
                <a:cs typeface="Segoe UI" pitchFamily="34" charset="-120"/>
              </a:rPr>
              <a:t>Next step: trial RoadLens with approved footage and tell us which scenario to build for.</a:t>
            </a:r>
            <a:endParaRPr lang="en-US" sz="1300" dirty="0"/>
          </a:p>
        </p:txBody>
      </p:sp>
      <p:sp>
        <p:nvSpPr>
          <p:cNvPr id="17" name="closing team band">
            <a:extLst>
              <a:ext uri="{C183D7F6-B498-43B3-948B-1728B52AA6E4}">
                <adec:decorative xmlns:adec="http://schemas.microsoft.com/office/drawing/2017/decorative" val="1"/>
              </a:ext>
            </a:extLst>
          </p:cNvPr>
          <p:cNvSpPr/>
          <p:nvPr/>
        </p:nvSpPr>
        <p:spPr>
          <a:xfrm>
            <a:off x="548640" y="3977640"/>
            <a:ext cx="8046720" cy="822960"/>
          </a:xfrm>
          <a:prstGeom prst="rect">
            <a:avLst/>
          </a:prstGeom>
          <a:solidFill>
            <a:srgbClr val="1F2937"/>
          </a:solidFill>
          <a:ln/>
        </p:spPr>
        <p:txBody>
          <a:bodyPr/>
          <a:lstStyle/>
          <a:p>
            <a:endParaRPr lang="en-US"/>
          </a:p>
        </p:txBody>
      </p:sp>
      <p:sp>
        <p:nvSpPr>
          <p:cNvPr id="18" name="Text 16"/>
          <p:cNvSpPr/>
          <p:nvPr/>
        </p:nvSpPr>
        <p:spPr>
          <a:xfrm>
            <a:off x="777240" y="4069080"/>
            <a:ext cx="7589520" cy="292608"/>
          </a:xfrm>
          <a:prstGeom prst="rect">
            <a:avLst/>
          </a:prstGeom>
          <a:noFill/>
          <a:ln/>
        </p:spPr>
        <p:txBody>
          <a:bodyPr wrap="square" lIns="0" tIns="0" rIns="0" bIns="0" rtlCol="0" anchor="ctr"/>
          <a:lstStyle/>
          <a:p>
            <a:pPr marL="0" indent="0">
              <a:buNone/>
            </a:pPr>
            <a:r>
              <a:rPr lang="en-US" sz="1200" i="1" dirty="0">
                <a:solidFill>
                  <a:srgbClr val="D1D5DB"/>
                </a:solidFill>
                <a:latin typeface="Segoe UI" pitchFamily="34" charset="0"/>
                <a:ea typeface="Segoe UI" pitchFamily="34" charset="-122"/>
                <a:cs typeface="Segoe UI" pitchFamily="34" charset="-120"/>
              </a:rPr>
              <a:t>Questions welcome</a:t>
            </a:r>
            <a:endParaRPr lang="en-US" sz="1200" dirty="0"/>
          </a:p>
        </p:txBody>
      </p:sp>
      <p:sp>
        <p:nvSpPr>
          <p:cNvPr id="19" name="Text 17"/>
          <p:cNvSpPr/>
          <p:nvPr/>
        </p:nvSpPr>
        <p:spPr>
          <a:xfrm>
            <a:off x="777240" y="4389120"/>
            <a:ext cx="7589520" cy="347472"/>
          </a:xfrm>
          <a:prstGeom prst="rect">
            <a:avLst/>
          </a:prstGeom>
          <a:noFill/>
          <a:ln/>
        </p:spPr>
        <p:txBody>
          <a:bodyPr wrap="square" lIns="0" tIns="0" rIns="0" bIns="0"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Sriram Iyer  •  Naveed Khan  •  Sai Krishna Bellala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8</TotalTime>
  <Words>787</Words>
  <Application>Microsoft Office PowerPoint</Application>
  <PresentationFormat>On-screen Show (16:9)</PresentationFormat>
  <Paragraphs>94</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Segoe UI</vt:lpstr>
      <vt:lpstr>Office Theme</vt:lpstr>
      <vt:lpstr>RoadLens — Intelligent Car Dashcam</vt:lpstr>
      <vt:lpstr>Hours of footage hide the moment that matters</vt:lpstr>
      <vt:lpstr>RoadLens turns video into searchable evidence</vt:lpstr>
      <vt:lpstr>The MVP already delivers a complete local workflow</vt:lpstr>
      <vt:lpstr>Start focused, then expand toward incident intelligence</vt:lpstr>
      <vt:lpstr>Thank you — let's find the moment that matters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Naveed Khan</dc:creator>
  <cp:lastModifiedBy>Naveed Khan</cp:lastModifiedBy>
  <cp:revision>1</cp:revision>
  <dcterms:created xsi:type="dcterms:W3CDTF">2026-09-16T16:26:51Z</dcterms:created>
  <dcterms:modified xsi:type="dcterms:W3CDTF">2026-09-16T16:35:06Z</dcterms:modified>
</cp:coreProperties>
</file>